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Roboto ExtraLight"/>
      <p:regular r:id="rId28"/>
      <p:bold r:id="rId29"/>
      <p:italic r:id="rId30"/>
      <p:boldItalic r:id="rId31"/>
    </p:embeddedFont>
    <p:embeddedFont>
      <p:font typeface="Proxima Nova"/>
      <p:regular r:id="rId32"/>
      <p:bold r:id="rId33"/>
      <p:italic r:id="rId34"/>
      <p:boldItalic r:id="rId35"/>
    </p:embeddedFont>
    <p:embeddedFont>
      <p:font typeface="Roboto"/>
      <p:regular r:id="rId36"/>
      <p:bold r:id="rId37"/>
      <p:italic r:id="rId38"/>
      <p:boldItalic r:id="rId39"/>
    </p:embeddedFont>
    <p:embeddedFont>
      <p:font typeface="Roboto Medium"/>
      <p:regular r:id="rId40"/>
      <p:bold r:id="rId41"/>
      <p:italic r:id="rId42"/>
      <p:boldItalic r:id="rId43"/>
    </p:embeddedFont>
    <p:embeddedFont>
      <p:font typeface="Century Gothic"/>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edium-regular.fntdata"/><Relationship Id="rId20" Type="http://schemas.openxmlformats.org/officeDocument/2006/relationships/slide" Target="slides/slide14.xml"/><Relationship Id="rId42" Type="http://schemas.openxmlformats.org/officeDocument/2006/relationships/font" Target="fonts/RobotoMedium-italic.fntdata"/><Relationship Id="rId41" Type="http://schemas.openxmlformats.org/officeDocument/2006/relationships/font" Target="fonts/RobotoMedium-bold.fntdata"/><Relationship Id="rId22" Type="http://schemas.openxmlformats.org/officeDocument/2006/relationships/slide" Target="slides/slide16.xml"/><Relationship Id="rId44" Type="http://schemas.openxmlformats.org/officeDocument/2006/relationships/font" Target="fonts/CenturyGothic-regular.fntdata"/><Relationship Id="rId21" Type="http://schemas.openxmlformats.org/officeDocument/2006/relationships/slide" Target="slides/slide15.xml"/><Relationship Id="rId43" Type="http://schemas.openxmlformats.org/officeDocument/2006/relationships/font" Target="fonts/RobotoMedium-boldItalic.fntdata"/><Relationship Id="rId24" Type="http://schemas.openxmlformats.org/officeDocument/2006/relationships/slide" Target="slides/slide18.xml"/><Relationship Id="rId46" Type="http://schemas.openxmlformats.org/officeDocument/2006/relationships/font" Target="fonts/CenturyGothic-italic.fntdata"/><Relationship Id="rId23" Type="http://schemas.openxmlformats.org/officeDocument/2006/relationships/slide" Target="slides/slide17.xml"/><Relationship Id="rId45" Type="http://schemas.openxmlformats.org/officeDocument/2006/relationships/font" Target="fonts/CenturyGothic-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CenturyGothic-boldItalic.fntdata"/><Relationship Id="rId28" Type="http://schemas.openxmlformats.org/officeDocument/2006/relationships/font" Target="fonts/RobotoExtraLight-regular.fntdata"/><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obotoExtraLight-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ExtraLight-boldItalic.fntdata"/><Relationship Id="rId30" Type="http://schemas.openxmlformats.org/officeDocument/2006/relationships/font" Target="fonts/RobotoExtraLight-italic.fntdata"/><Relationship Id="rId11" Type="http://schemas.openxmlformats.org/officeDocument/2006/relationships/slide" Target="slides/slide5.xml"/><Relationship Id="rId33" Type="http://schemas.openxmlformats.org/officeDocument/2006/relationships/font" Target="fonts/ProximaNova-bold.fntdata"/><Relationship Id="rId10" Type="http://schemas.openxmlformats.org/officeDocument/2006/relationships/slide" Target="slides/slide4.xml"/><Relationship Id="rId32" Type="http://schemas.openxmlformats.org/officeDocument/2006/relationships/font" Target="fonts/ProximaNova-regular.fntdata"/><Relationship Id="rId13" Type="http://schemas.openxmlformats.org/officeDocument/2006/relationships/slide" Target="slides/slide7.xml"/><Relationship Id="rId35" Type="http://schemas.openxmlformats.org/officeDocument/2006/relationships/font" Target="fonts/ProximaNova-boldItalic.fntdata"/><Relationship Id="rId12" Type="http://schemas.openxmlformats.org/officeDocument/2006/relationships/slide" Target="slides/slide6.xml"/><Relationship Id="rId34" Type="http://schemas.openxmlformats.org/officeDocument/2006/relationships/font" Target="fonts/ProximaNova-italic.fntdata"/><Relationship Id="rId15" Type="http://schemas.openxmlformats.org/officeDocument/2006/relationships/slide" Target="slides/slide9.xml"/><Relationship Id="rId37" Type="http://schemas.openxmlformats.org/officeDocument/2006/relationships/font" Target="fonts/Roboto-bold.fntdata"/><Relationship Id="rId14" Type="http://schemas.openxmlformats.org/officeDocument/2006/relationships/slide" Target="slides/slide8.xml"/><Relationship Id="rId36" Type="http://schemas.openxmlformats.org/officeDocument/2006/relationships/font" Target="fonts/Roboto-regular.fntdata"/><Relationship Id="rId17" Type="http://schemas.openxmlformats.org/officeDocument/2006/relationships/slide" Target="slides/slide11.xml"/><Relationship Id="rId39" Type="http://schemas.openxmlformats.org/officeDocument/2006/relationships/font" Target="fonts/Roboto-boldItalic.fntdata"/><Relationship Id="rId16" Type="http://schemas.openxmlformats.org/officeDocument/2006/relationships/slide" Target="slides/slide10.xml"/><Relationship Id="rId38" Type="http://schemas.openxmlformats.org/officeDocument/2006/relationships/font" Target="fonts/Robot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742e3e7cd_1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742e3e7cd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cbab3a369_1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cbab3a369_1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e3da88428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e3da88428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e3e79c7c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e3e79c7c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742e3e7cd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742e3e7cd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d4400e73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d4400e73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e3e79c7ce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e3e79c7ce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Sec.1</a:t>
            </a:r>
            <a:endParaRPr/>
          </a:p>
          <a:p>
            <a:pPr indent="0" lvl="0" marL="0" rtl="0" algn="l">
              <a:spcBef>
                <a:spcPts val="0"/>
              </a:spcBef>
              <a:spcAft>
                <a:spcPts val="0"/>
              </a:spcAft>
              <a:buNone/>
            </a:pPr>
            <a:r>
              <a:rPr lang="en"/>
              <a:t>Q1) why? Because trips under 1.3 minutes are probably ones done by employees to restock bicycles or for testing purposes or an unintentional trip made by riders due to the extremely short duration and since the closest two stations owned by divvy are 200 meters apart and aren’t reachable in under 1.3 minutes even going at max speed due to the terrain of the area and traffic.</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3e7c7b8cea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3e7c7b8c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3e7c7b8cea_0_3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3e7c7b8ce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3e7c7b8cea_0_4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3e7c7b8cea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3e7c7b8cea_0_5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3e7c7b8cea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3e8c1b36d8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3e8c1b36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3e8c1b36d8_0_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3e8c1b36d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3e8c1b36d8_0_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3e8c1b36d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d9c40d9f9_0_2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d9c40d9f9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3e9ca32dcc_1_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3e9ca32dcc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3e9ca32dcc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3e9ca32dcc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3ee1568ea5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3ee1568e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cb9a3abeb_0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cb9a3abe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d5f4b554c_0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d5f4b554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3ef0a5849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3ef0a5849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g33ef0a5849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54" name="Shape 54"/>
        <p:cNvGrpSpPr/>
        <p:nvPr/>
      </p:nvGrpSpPr>
      <p:grpSpPr>
        <a:xfrm>
          <a:off x="0" y="0"/>
          <a:ext cx="0" cy="0"/>
          <a:chOff x="0" y="0"/>
          <a:chExt cx="0" cy="0"/>
        </a:xfrm>
      </p:grpSpPr>
      <p:cxnSp>
        <p:nvCxnSpPr>
          <p:cNvPr id="55" name="Google Shape;55;p14"/>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56" name="Google Shape;56;p14"/>
          <p:cNvSpPr txBox="1"/>
          <p:nvPr>
            <p:ph type="ctrTitle"/>
          </p:nvPr>
        </p:nvSpPr>
        <p:spPr>
          <a:xfrm>
            <a:off x="510450" y="1257300"/>
            <a:ext cx="8123100" cy="1588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57" name="Google Shape;57;p14"/>
          <p:cNvSpPr txBox="1"/>
          <p:nvPr>
            <p:ph idx="1" type="subTitle"/>
          </p:nvPr>
        </p:nvSpPr>
        <p:spPr>
          <a:xfrm>
            <a:off x="510450" y="3182313"/>
            <a:ext cx="8123100" cy="63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2400"/>
              <a:buNone/>
              <a:defRPr sz="2400">
                <a:solidFill>
                  <a:schemeClr val="lt1"/>
                </a:solidFill>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58" name="Google Shape;58;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59" name="Shape 59"/>
        <p:cNvGrpSpPr/>
        <p:nvPr/>
      </p:nvGrpSpPr>
      <p:grpSpPr>
        <a:xfrm>
          <a:off x="0" y="0"/>
          <a:ext cx="0" cy="0"/>
          <a:chOff x="0" y="0"/>
          <a:chExt cx="0" cy="0"/>
        </a:xfrm>
      </p:grpSpPr>
      <p:cxnSp>
        <p:nvCxnSpPr>
          <p:cNvPr id="60" name="Google Shape;60;p15"/>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61" name="Google Shape;61;p15"/>
          <p:cNvSpPr txBox="1"/>
          <p:nvPr>
            <p:ph type="title"/>
          </p:nvPr>
        </p:nvSpPr>
        <p:spPr>
          <a:xfrm>
            <a:off x="510450" y="2057400"/>
            <a:ext cx="8123100" cy="778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62" name="Google Shape;62;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 name="Google Shape;66;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7" name="Google Shape;67;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 name="Google Shape;70;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1" name="Google Shape;71;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2" name="Google Shape;72;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 name="Google Shape;7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8" name="Google Shape;78;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9" name="Google Shape;79;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80" name="Shape 80"/>
        <p:cNvGrpSpPr/>
        <p:nvPr/>
      </p:nvGrpSpPr>
      <p:grpSpPr>
        <a:xfrm>
          <a:off x="0" y="0"/>
          <a:ext cx="0" cy="0"/>
          <a:chOff x="0" y="0"/>
          <a:chExt cx="0" cy="0"/>
        </a:xfrm>
      </p:grpSpPr>
      <p:sp>
        <p:nvSpPr>
          <p:cNvPr id="81" name="Google Shape;81;p20"/>
          <p:cNvSpPr txBox="1"/>
          <p:nvPr>
            <p:ph type="title"/>
          </p:nvPr>
        </p:nvSpPr>
        <p:spPr>
          <a:xfrm>
            <a:off x="490250" y="526350"/>
            <a:ext cx="57975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2" name="Google Shape;82;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1"/>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 name="Google Shape;85;p21"/>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86" name="Google Shape;86;p21"/>
          <p:cNvSpPr txBox="1"/>
          <p:nvPr>
            <p:ph type="title"/>
          </p:nvPr>
        </p:nvSpPr>
        <p:spPr>
          <a:xfrm>
            <a:off x="265500" y="1205825"/>
            <a:ext cx="4045200" cy="1509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7" name="Google Shape;87;p21"/>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8" name="Google Shape;88;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89" name="Google Shape;89;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0" name="Shape 90"/>
        <p:cNvGrpSpPr/>
        <p:nvPr/>
      </p:nvGrpSpPr>
      <p:grpSpPr>
        <a:xfrm>
          <a:off x="0" y="0"/>
          <a:ext cx="0" cy="0"/>
          <a:chOff x="0" y="0"/>
          <a:chExt cx="0" cy="0"/>
        </a:xfrm>
      </p:grpSpPr>
      <p:sp>
        <p:nvSpPr>
          <p:cNvPr id="91" name="Google Shape;91;p22"/>
          <p:cNvSpPr txBox="1"/>
          <p:nvPr>
            <p:ph idx="1" type="body"/>
          </p:nvPr>
        </p:nvSpPr>
        <p:spPr>
          <a:xfrm>
            <a:off x="311700" y="4236825"/>
            <a:ext cx="5998800" cy="598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100"/>
              <a:buNone/>
              <a:defRPr sz="2100"/>
            </a:lvl1pPr>
          </a:lstStyle>
          <a:p/>
        </p:txBody>
      </p:sp>
      <p:sp>
        <p:nvSpPr>
          <p:cNvPr id="92" name="Google Shape;92;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3" name="Shape 93"/>
        <p:cNvGrpSpPr/>
        <p:nvPr/>
      </p:nvGrpSpPr>
      <p:grpSpPr>
        <a:xfrm>
          <a:off x="0" y="0"/>
          <a:ext cx="0" cy="0"/>
          <a:chOff x="0" y="0"/>
          <a:chExt cx="0" cy="0"/>
        </a:xfrm>
      </p:grpSpPr>
      <p:sp>
        <p:nvSpPr>
          <p:cNvPr id="94" name="Google Shape;94;p2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3"/>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0"/>
              <a:buNone/>
              <a:defRPr b="1" sz="14000"/>
            </a:lvl1pPr>
            <a:lvl2pPr lvl="1" rtl="0" algn="ctr">
              <a:spcBef>
                <a:spcPts val="0"/>
              </a:spcBef>
              <a:spcAft>
                <a:spcPts val="0"/>
              </a:spcAft>
              <a:buSzPts val="14000"/>
              <a:buNone/>
              <a:defRPr b="1" sz="14000"/>
            </a:lvl2pPr>
            <a:lvl3pPr lvl="2" rtl="0" algn="ctr">
              <a:spcBef>
                <a:spcPts val="0"/>
              </a:spcBef>
              <a:spcAft>
                <a:spcPts val="0"/>
              </a:spcAft>
              <a:buSzPts val="14000"/>
              <a:buNone/>
              <a:defRPr b="1" sz="14000"/>
            </a:lvl3pPr>
            <a:lvl4pPr lvl="3" rtl="0" algn="ctr">
              <a:spcBef>
                <a:spcPts val="0"/>
              </a:spcBef>
              <a:spcAft>
                <a:spcPts val="0"/>
              </a:spcAft>
              <a:buSzPts val="14000"/>
              <a:buNone/>
              <a:defRPr b="1" sz="14000"/>
            </a:lvl4pPr>
            <a:lvl5pPr lvl="4" rtl="0" algn="ctr">
              <a:spcBef>
                <a:spcPts val="0"/>
              </a:spcBef>
              <a:spcAft>
                <a:spcPts val="0"/>
              </a:spcAft>
              <a:buSzPts val="14000"/>
              <a:buNone/>
              <a:defRPr b="1" sz="14000"/>
            </a:lvl5pPr>
            <a:lvl6pPr lvl="5" rtl="0" algn="ctr">
              <a:spcBef>
                <a:spcPts val="0"/>
              </a:spcBef>
              <a:spcAft>
                <a:spcPts val="0"/>
              </a:spcAft>
              <a:buSzPts val="14000"/>
              <a:buNone/>
              <a:defRPr b="1" sz="14000"/>
            </a:lvl6pPr>
            <a:lvl7pPr lvl="6" rtl="0" algn="ctr">
              <a:spcBef>
                <a:spcPts val="0"/>
              </a:spcBef>
              <a:spcAft>
                <a:spcPts val="0"/>
              </a:spcAft>
              <a:buSzPts val="14000"/>
              <a:buNone/>
              <a:defRPr b="1" sz="14000"/>
            </a:lvl7pPr>
            <a:lvl8pPr lvl="7" rtl="0" algn="ctr">
              <a:spcBef>
                <a:spcPts val="0"/>
              </a:spcBef>
              <a:spcAft>
                <a:spcPts val="0"/>
              </a:spcAft>
              <a:buSzPts val="14000"/>
              <a:buNone/>
              <a:defRPr b="1" sz="14000"/>
            </a:lvl8pPr>
            <a:lvl9pPr lvl="8" rtl="0" algn="ctr">
              <a:spcBef>
                <a:spcPts val="0"/>
              </a:spcBef>
              <a:spcAft>
                <a:spcPts val="0"/>
              </a:spcAft>
              <a:buSzPts val="14000"/>
              <a:buNone/>
              <a:defRPr b="1" sz="14000"/>
            </a:lvl9pPr>
          </a:lstStyle>
          <a:p>
            <a:r>
              <a:t>xx%</a:t>
            </a:r>
          </a:p>
        </p:txBody>
      </p:sp>
      <p:sp>
        <p:nvSpPr>
          <p:cNvPr id="96" name="Google Shape;96;p23"/>
          <p:cNvSpPr txBox="1"/>
          <p:nvPr>
            <p:ph idx="1" type="body"/>
          </p:nvPr>
        </p:nvSpPr>
        <p:spPr>
          <a:xfrm>
            <a:off x="311700" y="3071300"/>
            <a:ext cx="8520600" cy="901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7" name="Google Shape;97;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rtl="0">
              <a:lnSpc>
                <a:spcPct val="115000"/>
              </a:lnSpc>
              <a:spcBef>
                <a:spcPts val="1600"/>
              </a:spcBef>
              <a:spcAft>
                <a:spcPts val="160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Proxima Nova"/>
                <a:ea typeface="Proxima Nova"/>
                <a:cs typeface="Proxima Nova"/>
                <a:sym typeface="Proxima Nova"/>
              </a:defRPr>
            </a:lvl1pPr>
            <a:lvl2pPr lvl="1" rtl="0" algn="r">
              <a:buNone/>
              <a:defRPr sz="1000">
                <a:solidFill>
                  <a:schemeClr val="dk1"/>
                </a:solidFill>
                <a:latin typeface="Proxima Nova"/>
                <a:ea typeface="Proxima Nova"/>
                <a:cs typeface="Proxima Nova"/>
                <a:sym typeface="Proxima Nova"/>
              </a:defRPr>
            </a:lvl2pPr>
            <a:lvl3pPr lvl="2" rtl="0" algn="r">
              <a:buNone/>
              <a:defRPr sz="1000">
                <a:solidFill>
                  <a:schemeClr val="dk1"/>
                </a:solidFill>
                <a:latin typeface="Proxima Nova"/>
                <a:ea typeface="Proxima Nova"/>
                <a:cs typeface="Proxima Nova"/>
                <a:sym typeface="Proxima Nova"/>
              </a:defRPr>
            </a:lvl3pPr>
            <a:lvl4pPr lvl="3" rtl="0" algn="r">
              <a:buNone/>
              <a:defRPr sz="1000">
                <a:solidFill>
                  <a:schemeClr val="dk1"/>
                </a:solidFill>
                <a:latin typeface="Proxima Nova"/>
                <a:ea typeface="Proxima Nova"/>
                <a:cs typeface="Proxima Nova"/>
                <a:sym typeface="Proxima Nova"/>
              </a:defRPr>
            </a:lvl4pPr>
            <a:lvl5pPr lvl="4" rtl="0" algn="r">
              <a:buNone/>
              <a:defRPr sz="1000">
                <a:solidFill>
                  <a:schemeClr val="dk1"/>
                </a:solidFill>
                <a:latin typeface="Proxima Nova"/>
                <a:ea typeface="Proxima Nova"/>
                <a:cs typeface="Proxima Nova"/>
                <a:sym typeface="Proxima Nova"/>
              </a:defRPr>
            </a:lvl5pPr>
            <a:lvl6pPr lvl="5" rtl="0" algn="r">
              <a:buNone/>
              <a:defRPr sz="1000">
                <a:solidFill>
                  <a:schemeClr val="dk1"/>
                </a:solidFill>
                <a:latin typeface="Proxima Nova"/>
                <a:ea typeface="Proxima Nova"/>
                <a:cs typeface="Proxima Nova"/>
                <a:sym typeface="Proxima Nova"/>
              </a:defRPr>
            </a:lvl6pPr>
            <a:lvl7pPr lvl="6" rtl="0" algn="r">
              <a:buNone/>
              <a:defRPr sz="1000">
                <a:solidFill>
                  <a:schemeClr val="dk1"/>
                </a:solidFill>
                <a:latin typeface="Proxima Nova"/>
                <a:ea typeface="Proxima Nova"/>
                <a:cs typeface="Proxima Nova"/>
                <a:sym typeface="Proxima Nova"/>
              </a:defRPr>
            </a:lvl7pPr>
            <a:lvl8pPr lvl="7" rtl="0" algn="r">
              <a:buNone/>
              <a:defRPr sz="1000">
                <a:solidFill>
                  <a:schemeClr val="dk1"/>
                </a:solidFill>
                <a:latin typeface="Proxima Nova"/>
                <a:ea typeface="Proxima Nova"/>
                <a:cs typeface="Proxima Nova"/>
                <a:sym typeface="Proxima Nova"/>
              </a:defRPr>
            </a:lvl8pPr>
            <a:lvl9pPr lvl="8" rtl="0"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2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image" Target="../media/image7.jpg"/><Relationship Id="rId4" Type="http://schemas.openxmlformats.org/officeDocument/2006/relationships/image" Target="../media/image13.png"/><Relationship Id="rId5"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21.jpg"/><Relationship Id="rId4" Type="http://schemas.openxmlformats.org/officeDocument/2006/relationships/image" Target="../media/image17.png"/><Relationship Id="rId5" Type="http://schemas.openxmlformats.org/officeDocument/2006/relationships/hyperlink" Target="https://divvybikes-marketing-staging.lyft.net/system-data" TargetMode="External"/><Relationship Id="rId6" Type="http://schemas.openxmlformats.org/officeDocument/2006/relationships/hyperlink" Target="https://www.kaggle.com/code/hasanhejleh/cyclistic-capston-case-study-2024-2025-undergoin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5"/>
          <p:cNvPicPr preferRelativeResize="0"/>
          <p:nvPr/>
        </p:nvPicPr>
        <p:blipFill rotWithShape="1">
          <a:blip r:embed="rId3">
            <a:alphaModFix/>
          </a:blip>
          <a:srcRect b="0" l="24306" r="24306" t="0"/>
          <a:stretch/>
        </p:blipFill>
        <p:spPr>
          <a:xfrm>
            <a:off x="4448225" y="0"/>
            <a:ext cx="4695775" cy="5143501"/>
          </a:xfrm>
          <a:prstGeom prst="rect">
            <a:avLst/>
          </a:prstGeom>
          <a:noFill/>
          <a:ln>
            <a:noFill/>
          </a:ln>
        </p:spPr>
      </p:pic>
      <p:sp>
        <p:nvSpPr>
          <p:cNvPr id="105" name="Google Shape;105;p25"/>
          <p:cNvSpPr txBox="1"/>
          <p:nvPr>
            <p:ph type="ctrTitle"/>
          </p:nvPr>
        </p:nvSpPr>
        <p:spPr>
          <a:xfrm>
            <a:off x="510450" y="158325"/>
            <a:ext cx="3429300" cy="241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rgbClr val="262626"/>
                </a:solidFill>
                <a:highlight>
                  <a:srgbClr val="EFF6FF"/>
                </a:highlight>
                <a:latin typeface="Roboto"/>
                <a:ea typeface="Roboto"/>
                <a:cs typeface="Roboto"/>
                <a:sym typeface="Roboto"/>
              </a:rPr>
              <a:t>Cyclistic Bike-Sharing Usage Analysis: Insights and Recommendations</a:t>
            </a:r>
            <a:endParaRPr sz="3000"/>
          </a:p>
        </p:txBody>
      </p:sp>
      <p:sp>
        <p:nvSpPr>
          <p:cNvPr id="106" name="Google Shape;106;p25"/>
          <p:cNvSpPr txBox="1"/>
          <p:nvPr>
            <p:ph idx="1" type="subTitle"/>
          </p:nvPr>
        </p:nvSpPr>
        <p:spPr>
          <a:xfrm>
            <a:off x="458100" y="3681980"/>
            <a:ext cx="3534000" cy="11232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Font typeface="Roboto ExtraLight"/>
              <a:buChar char="●"/>
            </a:pPr>
            <a:r>
              <a:rPr lang="en" sz="1500">
                <a:latin typeface="Roboto ExtraLight"/>
                <a:ea typeface="Roboto ExtraLight"/>
                <a:cs typeface="Roboto ExtraLight"/>
                <a:sym typeface="Roboto ExtraLight"/>
              </a:rPr>
              <a:t>Completion Date: 3/11/2025</a:t>
            </a:r>
            <a:endParaRPr sz="1500">
              <a:latin typeface="Roboto ExtraLight"/>
              <a:ea typeface="Roboto ExtraLight"/>
              <a:cs typeface="Roboto ExtraLight"/>
              <a:sym typeface="Roboto ExtraLight"/>
            </a:endParaRPr>
          </a:p>
          <a:p>
            <a:pPr indent="-323850" lvl="0" marL="457200" rtl="0" algn="l">
              <a:spcBef>
                <a:spcPts val="0"/>
              </a:spcBef>
              <a:spcAft>
                <a:spcPts val="0"/>
              </a:spcAft>
              <a:buSzPts val="1500"/>
              <a:buFont typeface="Roboto ExtraLight"/>
              <a:buChar char="●"/>
            </a:pPr>
            <a:r>
              <a:rPr lang="en" sz="1500">
                <a:latin typeface="Roboto ExtraLight"/>
                <a:ea typeface="Roboto ExtraLight"/>
                <a:cs typeface="Roboto ExtraLight"/>
                <a:sym typeface="Roboto ExtraLight"/>
              </a:rPr>
              <a:t>Data Date: 2024 (Q1,Q2,Q3,Q4) - 2025 (Q1)</a:t>
            </a:r>
            <a:endParaRPr sz="1500">
              <a:latin typeface="Roboto ExtraLight"/>
              <a:ea typeface="Roboto ExtraLight"/>
              <a:cs typeface="Roboto ExtraLight"/>
              <a:sym typeface="Roboto ExtraLight"/>
            </a:endParaRPr>
          </a:p>
          <a:p>
            <a:pPr indent="-323850" lvl="0" marL="457200" rtl="0" algn="l">
              <a:spcBef>
                <a:spcPts val="0"/>
              </a:spcBef>
              <a:spcAft>
                <a:spcPts val="0"/>
              </a:spcAft>
              <a:buSzPts val="1500"/>
              <a:buFont typeface="Roboto ExtraLight"/>
              <a:buChar char="●"/>
            </a:pPr>
            <a:r>
              <a:rPr lang="en" sz="1500">
                <a:latin typeface="Roboto ExtraLight"/>
                <a:ea typeface="Roboto ExtraLight"/>
                <a:cs typeface="Roboto ExtraLight"/>
                <a:sym typeface="Roboto ExtraLight"/>
              </a:rPr>
              <a:t>Author: </a:t>
            </a:r>
            <a:r>
              <a:rPr lang="en" sz="1500">
                <a:latin typeface="Roboto ExtraLight"/>
                <a:ea typeface="Roboto ExtraLight"/>
                <a:cs typeface="Roboto ExtraLight"/>
                <a:sym typeface="Roboto ExtraLight"/>
              </a:rPr>
              <a:t>Hasan Hejleh</a:t>
            </a:r>
            <a:endParaRPr sz="1500">
              <a:latin typeface="Roboto ExtraLight"/>
              <a:ea typeface="Roboto ExtraLight"/>
              <a:cs typeface="Roboto ExtraLight"/>
              <a:sym typeface="Roboto ExtraLight"/>
            </a:endParaRPr>
          </a:p>
        </p:txBody>
      </p:sp>
      <p:cxnSp>
        <p:nvCxnSpPr>
          <p:cNvPr id="107" name="Google Shape;107;p25"/>
          <p:cNvCxnSpPr/>
          <p:nvPr/>
        </p:nvCxnSpPr>
        <p:spPr>
          <a:xfrm>
            <a:off x="615150" y="2998025"/>
            <a:ext cx="500400" cy="0"/>
          </a:xfrm>
          <a:prstGeom prst="straightConnector1">
            <a:avLst/>
          </a:prstGeom>
          <a:noFill/>
          <a:ln cap="flat" cmpd="sng" w="19050">
            <a:solidFill>
              <a:schemeClr val="lt1"/>
            </a:solidFill>
            <a:prstDash val="solid"/>
            <a:round/>
            <a:headEnd len="med" w="med" type="none"/>
            <a:tailEnd len="med" w="med" type="none"/>
          </a:ln>
        </p:spPr>
      </p:cxnSp>
      <p:sp>
        <p:nvSpPr>
          <p:cNvPr id="108" name="Google Shape;108;p25"/>
          <p:cNvSpPr txBox="1"/>
          <p:nvPr/>
        </p:nvSpPr>
        <p:spPr>
          <a:xfrm>
            <a:off x="725100" y="3096588"/>
            <a:ext cx="3000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solidFill>
                  <a:srgbClr val="EFF6FF"/>
                </a:solidFill>
                <a:latin typeface="Roboto"/>
                <a:ea typeface="Roboto"/>
                <a:cs typeface="Roboto"/>
                <a:sym typeface="Roboto"/>
              </a:rPr>
              <a:t>Understanding Casual vs. Annual Member Behavior</a:t>
            </a:r>
            <a:endParaRPr i="1">
              <a:solidFill>
                <a:srgbClr val="EFF6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6"/>
          <p:cNvSpPr txBox="1"/>
          <p:nvPr>
            <p:ph type="title"/>
          </p:nvPr>
        </p:nvSpPr>
        <p:spPr>
          <a:xfrm>
            <a:off x="311700" y="85475"/>
            <a:ext cx="3070200" cy="31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900" u="sng"/>
              <a:t>Table of Contents</a:t>
            </a:r>
            <a:endParaRPr sz="2900" u="sng"/>
          </a:p>
        </p:txBody>
      </p:sp>
      <p:sp>
        <p:nvSpPr>
          <p:cNvPr id="114" name="Google Shape;114;p26"/>
          <p:cNvSpPr txBox="1"/>
          <p:nvPr>
            <p:ph idx="1" type="body"/>
          </p:nvPr>
        </p:nvSpPr>
        <p:spPr>
          <a:xfrm>
            <a:off x="311700" y="471875"/>
            <a:ext cx="8832300" cy="4569300"/>
          </a:xfrm>
          <a:prstGeom prst="rect">
            <a:avLst/>
          </a:prstGeom>
          <a:noFill/>
        </p:spPr>
        <p:txBody>
          <a:bodyPr anchorCtr="0" anchor="t" bIns="91425" lIns="91425" spcFirstLastPara="1" rIns="91425" wrap="square" tIns="91425">
            <a:noAutofit/>
          </a:bodyPr>
          <a:lstStyle/>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Title </a:t>
            </a:r>
            <a:r>
              <a:rPr i="1" lang="en" sz="1200">
                <a:solidFill>
                  <a:srgbClr val="262626"/>
                </a:solidFill>
                <a:latin typeface="Roboto"/>
                <a:ea typeface="Roboto"/>
                <a:cs typeface="Roboto"/>
                <a:sym typeface="Roboto"/>
              </a:rPr>
              <a:t>—--------------------------------------------------------------------------------------------------------------------------------------------------------&gt; 1</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Table of Contents —----------------------------------------------------------------------------------------------------------------------------------&gt; 2</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About the Dataset —---------------------------------------------------------------------------------------------------------------------------------&gt; 3</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Our Stakeholders —----------------------------------------------------------------------------------------------------------------------------------&gt; 4</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Business Questions / Business Case —--------------------------------------------------------------------------------------------------&gt; 5</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Hypothesis —------------------------------------------------------------------------------------------------------------------------------------------&gt; 6</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Things To Remember —--------------------------------------------------------------------------------------------------------------------------&gt; 7</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Visualization 1: Trips count for each membership type &amp; bike type —---------------------------------------------------&gt; 8</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Visualization 2: Trips Distribution by duration in minutes —------------------------------------------------------------------&gt; 9</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Visualization 3: Trips Distribution by hour of the day —------------------------------------------------------------------------&gt; 10</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Visualization 4: Trips Distribution by day of the week —-----------------------------------------------------------------------&gt; 11</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Visualization 5: Average Trip Duration by membership type &amp; bike type —------------------------------------------&gt; 12</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Visualization 6: Top 10 Busiest Stations for Annual Members —--------------------------------------------------------&gt; 13</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Visualization 7: Top 10 Busiest Stations for Casual Members —--------------------------------------------------------&gt; 14</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My Discoveries —---------------------------------------------------------------------------------------------------------------------------------&gt; 15</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Ask Questions/Answers —-------------------------------------------------------------------------------------------------------------------&gt; 16</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Hypothesis Testing: Was our hypothesis correct? —---------------------------------------------------------------------------&gt; 17</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Recommendations —---------------------------------------------------------------------------------------------------------------------------&gt; 18</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Future Work —--------------------------------------------------------------------------------------------------------------------------------------&gt; 19</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References &amp; Tools Used —-----------------------------------------------------------------------------------------------------------------&gt; 20</a:t>
            </a:r>
            <a:endParaRPr i="1" sz="1200">
              <a:solidFill>
                <a:srgbClr val="262626"/>
              </a:solidFill>
              <a:latin typeface="Roboto"/>
              <a:ea typeface="Roboto"/>
              <a:cs typeface="Roboto"/>
              <a:sym typeface="Roboto"/>
            </a:endParaRPr>
          </a:p>
          <a:p>
            <a:pPr indent="-304800" lvl="0" marL="457200" rtl="0" algn="l">
              <a:spcBef>
                <a:spcPts val="0"/>
              </a:spcBef>
              <a:spcAft>
                <a:spcPts val="0"/>
              </a:spcAft>
              <a:buClr>
                <a:srgbClr val="262626"/>
              </a:buClr>
              <a:buSzPts val="1200"/>
              <a:buFont typeface="Roboto"/>
              <a:buChar char="●"/>
            </a:pPr>
            <a:r>
              <a:rPr i="1" lang="en" sz="1200">
                <a:solidFill>
                  <a:srgbClr val="262626"/>
                </a:solidFill>
                <a:latin typeface="Roboto"/>
                <a:ea typeface="Roboto"/>
                <a:cs typeface="Roboto"/>
                <a:sym typeface="Roboto"/>
              </a:rPr>
              <a:t>Thank You for Attending —------------------------------------------------------------------------------------------------------------------&gt; 21</a:t>
            </a:r>
            <a:endParaRPr i="1" sz="2600">
              <a:solidFill>
                <a:srgbClr val="262626"/>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7"/>
          <p:cNvSpPr txBox="1"/>
          <p:nvPr>
            <p:ph type="title"/>
          </p:nvPr>
        </p:nvSpPr>
        <p:spPr>
          <a:xfrm>
            <a:off x="311700" y="160925"/>
            <a:ext cx="4032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u="sng">
                <a:latin typeface="Roboto Medium"/>
                <a:ea typeface="Roboto Medium"/>
                <a:cs typeface="Roboto Medium"/>
                <a:sym typeface="Roboto Medium"/>
              </a:rPr>
              <a:t>About The Dataset</a:t>
            </a:r>
            <a:endParaRPr sz="3600" u="sng">
              <a:latin typeface="Roboto Medium"/>
              <a:ea typeface="Roboto Medium"/>
              <a:cs typeface="Roboto Medium"/>
              <a:sym typeface="Roboto Medium"/>
            </a:endParaRPr>
          </a:p>
        </p:txBody>
      </p:sp>
      <p:sp>
        <p:nvSpPr>
          <p:cNvPr id="120" name="Google Shape;120;p27"/>
          <p:cNvSpPr txBox="1"/>
          <p:nvPr>
            <p:ph idx="1" type="body"/>
          </p:nvPr>
        </p:nvSpPr>
        <p:spPr>
          <a:xfrm>
            <a:off x="311700" y="1030050"/>
            <a:ext cx="8571900" cy="154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n" sz="1700">
                <a:solidFill>
                  <a:srgbClr val="404040"/>
                </a:solidFill>
                <a:latin typeface="Roboto"/>
                <a:ea typeface="Roboto"/>
                <a:cs typeface="Roboto"/>
                <a:sym typeface="Roboto"/>
              </a:rPr>
              <a:t>The dataset is publicly available under an open license from Motivate International Inc. It includes anonymized trip data (e.g., duration, stations, bike type, membership type) for Cyclistic, a Chicago bike-share program. The data is privacy-compliant, excluding personally identifiable information, and can be used for analysis and reporting.</a:t>
            </a:r>
            <a:endParaRPr sz="1100">
              <a:latin typeface="Roboto"/>
              <a:ea typeface="Roboto"/>
              <a:cs typeface="Roboto"/>
              <a:sym typeface="Roboto"/>
            </a:endParaRPr>
          </a:p>
        </p:txBody>
      </p:sp>
      <p:sp>
        <p:nvSpPr>
          <p:cNvPr id="121" name="Google Shape;121;p27"/>
          <p:cNvSpPr txBox="1"/>
          <p:nvPr>
            <p:ph type="title"/>
          </p:nvPr>
        </p:nvSpPr>
        <p:spPr>
          <a:xfrm>
            <a:off x="311700" y="2571750"/>
            <a:ext cx="8764200" cy="203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u="sng">
                <a:latin typeface="Roboto Medium"/>
                <a:ea typeface="Roboto Medium"/>
                <a:cs typeface="Roboto Medium"/>
                <a:sym typeface="Roboto Medium"/>
              </a:rPr>
              <a:t>Key Considerations:</a:t>
            </a:r>
            <a:endParaRPr sz="2000" u="sng">
              <a:latin typeface="Roboto Medium"/>
              <a:ea typeface="Roboto Medium"/>
              <a:cs typeface="Roboto Medium"/>
              <a:sym typeface="Roboto Medium"/>
            </a:endParaRPr>
          </a:p>
          <a:p>
            <a:pPr indent="0" lvl="0" marL="0" rtl="0" algn="l">
              <a:spcBef>
                <a:spcPts val="0"/>
              </a:spcBef>
              <a:spcAft>
                <a:spcPts val="0"/>
              </a:spcAft>
              <a:buNone/>
            </a:pPr>
            <a:r>
              <a:t/>
            </a:r>
            <a:endParaRPr sz="2000" u="sng">
              <a:latin typeface="Roboto Medium"/>
              <a:ea typeface="Roboto Medium"/>
              <a:cs typeface="Roboto Medium"/>
              <a:sym typeface="Roboto Medium"/>
            </a:endParaRPr>
          </a:p>
          <a:p>
            <a:pPr indent="-323850" lvl="0" marL="457200" rtl="0" algn="l">
              <a:spcBef>
                <a:spcPts val="0"/>
              </a:spcBef>
              <a:spcAft>
                <a:spcPts val="0"/>
              </a:spcAft>
              <a:buSzPts val="1500"/>
              <a:buFont typeface="Roboto Medium"/>
              <a:buChar char="●"/>
            </a:pPr>
            <a:r>
              <a:rPr lang="en" sz="1500">
                <a:latin typeface="Roboto Medium"/>
                <a:ea typeface="Roboto Medium"/>
                <a:cs typeface="Roboto Medium"/>
                <a:sym typeface="Roboto Medium"/>
              </a:rPr>
              <a:t>Cyclistic is an imaginary company however the data is real and is owned by divvy bikes company. (Refer to references page for more details)</a:t>
            </a:r>
            <a:endParaRPr sz="1500">
              <a:latin typeface="Roboto Medium"/>
              <a:ea typeface="Roboto Medium"/>
              <a:cs typeface="Roboto Medium"/>
              <a:sym typeface="Roboto Medium"/>
            </a:endParaRPr>
          </a:p>
          <a:p>
            <a:pPr indent="0" lvl="0" marL="457200" rtl="0" algn="l">
              <a:spcBef>
                <a:spcPts val="0"/>
              </a:spcBef>
              <a:spcAft>
                <a:spcPts val="0"/>
              </a:spcAft>
              <a:buNone/>
            </a:pPr>
            <a:r>
              <a:t/>
            </a:r>
            <a:endParaRPr sz="1500">
              <a:latin typeface="Roboto Medium"/>
              <a:ea typeface="Roboto Medium"/>
              <a:cs typeface="Roboto Medium"/>
              <a:sym typeface="Roboto Medium"/>
            </a:endParaRPr>
          </a:p>
          <a:p>
            <a:pPr indent="-323850" lvl="0" marL="457200" rtl="0" algn="l">
              <a:spcBef>
                <a:spcPts val="0"/>
              </a:spcBef>
              <a:spcAft>
                <a:spcPts val="0"/>
              </a:spcAft>
              <a:buSzPts val="1500"/>
              <a:buFont typeface="Roboto Medium"/>
              <a:buChar char="●"/>
            </a:pPr>
            <a:r>
              <a:rPr lang="en" sz="1500">
                <a:latin typeface="Roboto Medium"/>
                <a:ea typeface="Roboto Medium"/>
                <a:cs typeface="Roboto Medium"/>
                <a:sym typeface="Roboto Medium"/>
              </a:rPr>
              <a:t>The data has been processed to remove trips that are taken by staff as they service and inspect the system; and any trips that were below 60 seconds in length (potentially false starts or users trying to re-dock a bike to ensure it was secure).</a:t>
            </a:r>
            <a:endParaRPr sz="1500">
              <a:latin typeface="Roboto Medium"/>
              <a:ea typeface="Roboto Medium"/>
              <a:cs typeface="Roboto Medium"/>
              <a:sym typeface="Roboto Medium"/>
            </a:endParaRPr>
          </a:p>
          <a:p>
            <a:pPr indent="0" lvl="0" marL="0" rtl="0" algn="l">
              <a:spcBef>
                <a:spcPts val="0"/>
              </a:spcBef>
              <a:spcAft>
                <a:spcPts val="0"/>
              </a:spcAft>
              <a:buNone/>
            </a:pPr>
            <a:r>
              <a:t/>
            </a:r>
            <a:endParaRPr sz="1600">
              <a:latin typeface="Roboto Medium"/>
              <a:ea typeface="Roboto Medium"/>
              <a:cs typeface="Roboto Medium"/>
              <a:sym typeface="Roboto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8"/>
          <p:cNvPicPr preferRelativeResize="0"/>
          <p:nvPr/>
        </p:nvPicPr>
        <p:blipFill>
          <a:blip r:embed="rId3">
            <a:alphaModFix/>
          </a:blip>
          <a:stretch>
            <a:fillRect/>
          </a:stretch>
        </p:blipFill>
        <p:spPr>
          <a:xfrm>
            <a:off x="1449863" y="152400"/>
            <a:ext cx="6244270" cy="4838700"/>
          </a:xfrm>
          <a:prstGeom prst="rect">
            <a:avLst/>
          </a:prstGeom>
          <a:noFill/>
          <a:ln>
            <a:noFill/>
          </a:ln>
        </p:spPr>
      </p:pic>
      <p:sp>
        <p:nvSpPr>
          <p:cNvPr id="127" name="Google Shape;127;p28"/>
          <p:cNvSpPr txBox="1"/>
          <p:nvPr/>
        </p:nvSpPr>
        <p:spPr>
          <a:xfrm>
            <a:off x="2869350" y="152400"/>
            <a:ext cx="3405300" cy="56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500" u="sng">
                <a:solidFill>
                  <a:schemeClr val="dk1"/>
                </a:solidFill>
                <a:latin typeface="Roboto Medium"/>
                <a:ea typeface="Roboto Medium"/>
                <a:cs typeface="Roboto Medium"/>
                <a:sym typeface="Roboto Medium"/>
              </a:rPr>
              <a:t>Our Stakeholders</a:t>
            </a:r>
            <a:endParaRPr sz="2500" u="sng">
              <a:solidFill>
                <a:schemeClr val="dk1"/>
              </a:solidFill>
              <a:latin typeface="Roboto Medium"/>
              <a:ea typeface="Roboto Medium"/>
              <a:cs typeface="Roboto Medium"/>
              <a:sym typeface="Roboto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9"/>
          <p:cNvSpPr txBox="1"/>
          <p:nvPr>
            <p:ph type="title"/>
          </p:nvPr>
        </p:nvSpPr>
        <p:spPr>
          <a:xfrm>
            <a:off x="160825" y="134575"/>
            <a:ext cx="4160400" cy="1136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600"/>
              <a:t>Business Questions / Business Case</a:t>
            </a:r>
            <a:endParaRPr sz="3600"/>
          </a:p>
        </p:txBody>
      </p:sp>
      <p:pic>
        <p:nvPicPr>
          <p:cNvPr id="133" name="Google Shape;133;p29"/>
          <p:cNvPicPr preferRelativeResize="0"/>
          <p:nvPr/>
        </p:nvPicPr>
        <p:blipFill rotWithShape="1">
          <a:blip r:embed="rId3">
            <a:alphaModFix/>
          </a:blip>
          <a:srcRect b="0" l="19575" r="19575" t="0"/>
          <a:stretch/>
        </p:blipFill>
        <p:spPr>
          <a:xfrm>
            <a:off x="4448225" y="0"/>
            <a:ext cx="4695777" cy="5143501"/>
          </a:xfrm>
          <a:prstGeom prst="rect">
            <a:avLst/>
          </a:prstGeom>
          <a:noFill/>
          <a:ln>
            <a:noFill/>
          </a:ln>
        </p:spPr>
      </p:pic>
      <p:sp>
        <p:nvSpPr>
          <p:cNvPr id="134" name="Google Shape;134;p29"/>
          <p:cNvSpPr txBox="1"/>
          <p:nvPr/>
        </p:nvSpPr>
        <p:spPr>
          <a:xfrm>
            <a:off x="188900" y="1501975"/>
            <a:ext cx="40257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oboto"/>
                <a:ea typeface="Roboto"/>
                <a:cs typeface="Roboto"/>
                <a:sym typeface="Roboto"/>
              </a:rPr>
              <a:t>Objective:</a:t>
            </a:r>
            <a:r>
              <a:rPr lang="en">
                <a:latin typeface="Roboto"/>
                <a:ea typeface="Roboto"/>
                <a:cs typeface="Roboto"/>
                <a:sym typeface="Roboto"/>
              </a:rPr>
              <a:t> Understand how casual and annual members use Cyclistic bikes differently.</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b="1" lang="en">
                <a:latin typeface="Roboto"/>
                <a:ea typeface="Roboto"/>
                <a:cs typeface="Roboto"/>
                <a:sym typeface="Roboto"/>
              </a:rPr>
              <a:t>Business Case:</a:t>
            </a:r>
            <a:r>
              <a:rPr lang="en">
                <a:latin typeface="Roboto"/>
                <a:ea typeface="Roboto"/>
                <a:cs typeface="Roboto"/>
                <a:sym typeface="Roboto"/>
              </a:rPr>
              <a:t> Insights will help design targeted marketing strategies to convert casual riders into annual members.</a:t>
            </a:r>
            <a:endParaRPr>
              <a:latin typeface="Roboto"/>
              <a:ea typeface="Roboto"/>
              <a:cs typeface="Roboto"/>
              <a:sym typeface="Roboto"/>
            </a:endParaRPr>
          </a:p>
        </p:txBody>
      </p:sp>
      <p:cxnSp>
        <p:nvCxnSpPr>
          <p:cNvPr id="135" name="Google Shape;135;p29"/>
          <p:cNvCxnSpPr/>
          <p:nvPr/>
        </p:nvCxnSpPr>
        <p:spPr>
          <a:xfrm flipH="1" rot="10800000">
            <a:off x="171950" y="1405475"/>
            <a:ext cx="4059600" cy="7500"/>
          </a:xfrm>
          <a:prstGeom prst="straightConnector1">
            <a:avLst/>
          </a:prstGeom>
          <a:noFill/>
          <a:ln cap="flat" cmpd="sng" w="9525">
            <a:solidFill>
              <a:schemeClr val="dk2"/>
            </a:solidFill>
            <a:prstDash val="solid"/>
            <a:round/>
            <a:headEnd len="med" w="med" type="none"/>
            <a:tailEnd len="med" w="med" type="none"/>
          </a:ln>
        </p:spPr>
      </p:cxnSp>
      <p:sp>
        <p:nvSpPr>
          <p:cNvPr id="136" name="Google Shape;136;p29"/>
          <p:cNvSpPr txBox="1"/>
          <p:nvPr/>
        </p:nvSpPr>
        <p:spPr>
          <a:xfrm>
            <a:off x="188900" y="2979475"/>
            <a:ext cx="3000000" cy="213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Key Questions(Ask Questions):</a:t>
            </a:r>
            <a:endParaRPr b="1"/>
          </a:p>
          <a:p>
            <a:pPr indent="0" lvl="0" marL="0" rtl="0" algn="l">
              <a:spcBef>
                <a:spcPts val="0"/>
              </a:spcBef>
              <a:spcAft>
                <a:spcPts val="0"/>
              </a:spcAft>
              <a:buNone/>
            </a:pPr>
            <a:r>
              <a:t/>
            </a:r>
            <a:endParaRPr b="1"/>
          </a:p>
          <a:p>
            <a:pPr indent="-298450" lvl="0" marL="457200" rtl="0" algn="l">
              <a:spcBef>
                <a:spcPts val="0"/>
              </a:spcBef>
              <a:spcAft>
                <a:spcPts val="0"/>
              </a:spcAft>
              <a:buSzPts val="1100"/>
              <a:buChar char="●"/>
            </a:pPr>
            <a:r>
              <a:rPr lang="en" sz="1100"/>
              <a:t>How do annual members and casual riders use Cyclistic bikes differently?</a:t>
            </a:r>
            <a:endParaRPr sz="1100"/>
          </a:p>
          <a:p>
            <a:pPr indent="0" lvl="0" marL="0" rtl="0" algn="l">
              <a:spcBef>
                <a:spcPts val="0"/>
              </a:spcBef>
              <a:spcAft>
                <a:spcPts val="0"/>
              </a:spcAft>
              <a:buNone/>
            </a:pPr>
            <a:r>
              <a:t/>
            </a:r>
            <a:endParaRPr sz="1100"/>
          </a:p>
          <a:p>
            <a:pPr indent="-298450" lvl="0" marL="457200" rtl="0" algn="l">
              <a:spcBef>
                <a:spcPts val="0"/>
              </a:spcBef>
              <a:spcAft>
                <a:spcPts val="0"/>
              </a:spcAft>
              <a:buSzPts val="1100"/>
              <a:buChar char="●"/>
            </a:pPr>
            <a:r>
              <a:rPr lang="en" sz="1100"/>
              <a:t>Why would casual riders buy Cyclistic annual memberships?</a:t>
            </a:r>
            <a:endParaRPr sz="1100"/>
          </a:p>
          <a:p>
            <a:pPr indent="0" lvl="0" marL="0" rtl="0" algn="l">
              <a:spcBef>
                <a:spcPts val="0"/>
              </a:spcBef>
              <a:spcAft>
                <a:spcPts val="0"/>
              </a:spcAft>
              <a:buNone/>
            </a:pPr>
            <a:r>
              <a:t/>
            </a:r>
            <a:endParaRPr sz="1100"/>
          </a:p>
          <a:p>
            <a:pPr indent="-298450" lvl="0" marL="457200" rtl="0" algn="l">
              <a:spcBef>
                <a:spcPts val="0"/>
              </a:spcBef>
              <a:spcAft>
                <a:spcPts val="0"/>
              </a:spcAft>
              <a:buSzPts val="1100"/>
              <a:buChar char="●"/>
            </a:pPr>
            <a:r>
              <a:rPr lang="en" sz="1100"/>
              <a:t>How can Cyclistic use digital media to influence casual riders to become members?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0"/>
          <p:cNvSpPr txBox="1"/>
          <p:nvPr>
            <p:ph type="title"/>
          </p:nvPr>
        </p:nvSpPr>
        <p:spPr>
          <a:xfrm>
            <a:off x="476025" y="99725"/>
            <a:ext cx="5797500" cy="79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400" u="sng"/>
              <a:t>The hypothesis</a:t>
            </a:r>
            <a:r>
              <a:rPr b="1" lang="en" sz="2000"/>
              <a:t> (or prediction)</a:t>
            </a:r>
            <a:endParaRPr sz="4400"/>
          </a:p>
        </p:txBody>
      </p:sp>
      <p:sp>
        <p:nvSpPr>
          <p:cNvPr id="142" name="Google Shape;142;p30"/>
          <p:cNvSpPr txBox="1"/>
          <p:nvPr/>
        </p:nvSpPr>
        <p:spPr>
          <a:xfrm>
            <a:off x="1431900" y="1447525"/>
            <a:ext cx="6280200" cy="9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38761D"/>
                </a:solidFill>
                <a:latin typeface="Roboto"/>
                <a:ea typeface="Roboto"/>
                <a:cs typeface="Roboto"/>
                <a:sym typeface="Roboto"/>
              </a:rPr>
              <a:t>Lily Moreno believes that maximizing the number of annual members will be key to future growth.</a:t>
            </a:r>
            <a:endParaRPr>
              <a:solidFill>
                <a:srgbClr val="38761D"/>
              </a:solidFill>
              <a:latin typeface="Roboto"/>
              <a:ea typeface="Roboto"/>
              <a:cs typeface="Roboto"/>
              <a:sym typeface="Roboto"/>
            </a:endParaRPr>
          </a:p>
        </p:txBody>
      </p:sp>
      <p:sp>
        <p:nvSpPr>
          <p:cNvPr id="143" name="Google Shape;143;p30"/>
          <p:cNvSpPr txBox="1"/>
          <p:nvPr/>
        </p:nvSpPr>
        <p:spPr>
          <a:xfrm>
            <a:off x="1964700" y="2743300"/>
            <a:ext cx="5214600" cy="1477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262626"/>
                </a:solidFill>
                <a:latin typeface="Roboto"/>
                <a:ea typeface="Roboto"/>
                <a:cs typeface="Roboto"/>
                <a:sym typeface="Roboto"/>
              </a:rPr>
              <a:t>Moreno has set a clear goal</a:t>
            </a:r>
            <a:r>
              <a:rPr lang="en" sz="1200">
                <a:solidFill>
                  <a:srgbClr val="262626"/>
                </a:solidFill>
                <a:latin typeface="Roboto"/>
                <a:ea typeface="Roboto"/>
                <a:cs typeface="Roboto"/>
                <a:sym typeface="Roboto"/>
              </a:rPr>
              <a:t> Design marketing strategies aimed at converting casual riders into annual members. In order to do that, however, the team needs to better understand how annual members and casual riders differ, why casual riders would buy a membership, and how digital media could affect their marketing tactics. Moreno and her team are interested in analyzing the Cyclistic historical bike trip data to identify trends.</a:t>
            </a:r>
            <a:endParaRPr sz="1200">
              <a:solidFill>
                <a:srgbClr val="262626"/>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1"/>
          <p:cNvSpPr txBox="1"/>
          <p:nvPr>
            <p:ph type="title"/>
          </p:nvPr>
        </p:nvSpPr>
        <p:spPr>
          <a:xfrm>
            <a:off x="311700" y="140225"/>
            <a:ext cx="3642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Things To Remember</a:t>
            </a:r>
            <a:r>
              <a:rPr lang="en"/>
              <a:t>:</a:t>
            </a:r>
            <a:endParaRPr/>
          </a:p>
        </p:txBody>
      </p:sp>
      <p:sp>
        <p:nvSpPr>
          <p:cNvPr id="149" name="Google Shape;149;p31"/>
          <p:cNvSpPr txBox="1"/>
          <p:nvPr>
            <p:ph idx="1" type="body"/>
          </p:nvPr>
        </p:nvSpPr>
        <p:spPr>
          <a:xfrm>
            <a:off x="1020450" y="1152475"/>
            <a:ext cx="22245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latin typeface="Roboto"/>
                <a:ea typeface="Roboto"/>
                <a:cs typeface="Roboto"/>
                <a:sym typeface="Roboto"/>
              </a:rPr>
              <a:t>Dataset Constraints</a:t>
            </a:r>
            <a:endParaRPr b="1" sz="1400">
              <a:latin typeface="Roboto"/>
              <a:ea typeface="Roboto"/>
              <a:cs typeface="Roboto"/>
              <a:sym typeface="Roboto"/>
            </a:endParaRPr>
          </a:p>
          <a:p>
            <a:pPr indent="0" lvl="0" marL="0" rtl="0" algn="l">
              <a:spcBef>
                <a:spcPts val="1600"/>
              </a:spcBef>
              <a:spcAft>
                <a:spcPts val="1600"/>
              </a:spcAft>
              <a:buNone/>
            </a:pPr>
            <a:r>
              <a:t/>
            </a:r>
            <a:endParaRPr/>
          </a:p>
        </p:txBody>
      </p:sp>
      <p:sp>
        <p:nvSpPr>
          <p:cNvPr id="150" name="Google Shape;150;p31"/>
          <p:cNvSpPr txBox="1"/>
          <p:nvPr>
            <p:ph idx="1" type="body"/>
          </p:nvPr>
        </p:nvSpPr>
        <p:spPr>
          <a:xfrm>
            <a:off x="3784500" y="1152475"/>
            <a:ext cx="2424000" cy="4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latin typeface="Roboto"/>
                <a:ea typeface="Roboto"/>
                <a:cs typeface="Roboto"/>
                <a:sym typeface="Roboto"/>
              </a:rPr>
              <a:t>Analysis of trip durations</a:t>
            </a:r>
            <a:endParaRPr b="1" sz="1400">
              <a:latin typeface="Roboto"/>
              <a:ea typeface="Roboto"/>
              <a:cs typeface="Roboto"/>
              <a:sym typeface="Roboto"/>
            </a:endParaRPr>
          </a:p>
          <a:p>
            <a:pPr indent="0" lvl="0" marL="0" rtl="0" algn="l">
              <a:spcBef>
                <a:spcPts val="1600"/>
              </a:spcBef>
              <a:spcAft>
                <a:spcPts val="1600"/>
              </a:spcAft>
              <a:buNone/>
            </a:pPr>
            <a:r>
              <a:t/>
            </a:r>
            <a:endParaRPr sz="1200">
              <a:solidFill>
                <a:srgbClr val="262626"/>
              </a:solidFill>
              <a:highlight>
                <a:srgbClr val="EFF6FF"/>
              </a:highlight>
              <a:latin typeface="Roboto"/>
              <a:ea typeface="Roboto"/>
              <a:cs typeface="Roboto"/>
              <a:sym typeface="Roboto"/>
            </a:endParaRPr>
          </a:p>
        </p:txBody>
      </p:sp>
      <p:sp>
        <p:nvSpPr>
          <p:cNvPr id="151" name="Google Shape;151;p31"/>
          <p:cNvSpPr txBox="1"/>
          <p:nvPr>
            <p:ph idx="1" type="body"/>
          </p:nvPr>
        </p:nvSpPr>
        <p:spPr>
          <a:xfrm>
            <a:off x="6246600" y="1084225"/>
            <a:ext cx="2148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400">
                <a:latin typeface="Roboto"/>
                <a:ea typeface="Roboto"/>
                <a:cs typeface="Roboto"/>
                <a:sym typeface="Roboto"/>
              </a:rPr>
              <a:t>Key findings &amp; recommendations</a:t>
            </a:r>
            <a:endParaRPr b="1" sz="1400">
              <a:latin typeface="Roboto"/>
              <a:ea typeface="Roboto"/>
              <a:cs typeface="Roboto"/>
              <a:sym typeface="Roboto"/>
            </a:endParaRPr>
          </a:p>
          <a:p>
            <a:pPr indent="0" lvl="0" marL="0" rtl="0" algn="l">
              <a:spcBef>
                <a:spcPts val="1600"/>
              </a:spcBef>
              <a:spcAft>
                <a:spcPts val="1600"/>
              </a:spcAft>
              <a:buNone/>
            </a:pPr>
            <a:r>
              <a:t/>
            </a:r>
            <a:endParaRPr sz="1200">
              <a:solidFill>
                <a:srgbClr val="262626"/>
              </a:solidFill>
              <a:highlight>
                <a:srgbClr val="EFF6FF"/>
              </a:highlight>
              <a:latin typeface="Roboto"/>
              <a:ea typeface="Roboto"/>
              <a:cs typeface="Roboto"/>
              <a:sym typeface="Roboto"/>
            </a:endParaRPr>
          </a:p>
        </p:txBody>
      </p:sp>
      <p:sp>
        <p:nvSpPr>
          <p:cNvPr id="152" name="Google Shape;152;p31"/>
          <p:cNvSpPr txBox="1"/>
          <p:nvPr>
            <p:ph idx="1" type="body"/>
          </p:nvPr>
        </p:nvSpPr>
        <p:spPr>
          <a:xfrm>
            <a:off x="768900" y="1845100"/>
            <a:ext cx="2224500" cy="31488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SzPts val="1000"/>
              <a:buFont typeface="Roboto"/>
              <a:buChar char="●"/>
            </a:pPr>
            <a:r>
              <a:rPr lang="en" sz="1000">
                <a:latin typeface="Roboto"/>
                <a:ea typeface="Roboto"/>
                <a:cs typeface="Roboto"/>
                <a:sym typeface="Roboto"/>
              </a:rPr>
              <a:t>Trips with a duration </a:t>
            </a:r>
            <a:r>
              <a:rPr b="1" lang="en" sz="1000" u="sng">
                <a:latin typeface="Roboto"/>
                <a:ea typeface="Roboto"/>
                <a:cs typeface="Roboto"/>
                <a:sym typeface="Roboto"/>
              </a:rPr>
              <a:t>under 1.3 minutes exclusive</a:t>
            </a:r>
            <a:r>
              <a:rPr lang="en" sz="1000">
                <a:latin typeface="Roboto"/>
                <a:ea typeface="Roboto"/>
                <a:cs typeface="Roboto"/>
                <a:sym typeface="Roboto"/>
              </a:rPr>
              <a:t> are </a:t>
            </a:r>
            <a:r>
              <a:rPr b="1" lang="en" sz="1000" u="sng">
                <a:latin typeface="Roboto"/>
                <a:ea typeface="Roboto"/>
                <a:cs typeface="Roboto"/>
                <a:sym typeface="Roboto"/>
              </a:rPr>
              <a:t>not included</a:t>
            </a:r>
            <a:r>
              <a:rPr lang="en" sz="1000">
                <a:latin typeface="Roboto"/>
                <a:ea typeface="Roboto"/>
                <a:cs typeface="Roboto"/>
                <a:sym typeface="Roboto"/>
              </a:rPr>
              <a:t> in this case study.</a:t>
            </a:r>
            <a:endParaRPr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lang="en" sz="1000">
                <a:latin typeface="Roboto"/>
                <a:ea typeface="Roboto"/>
                <a:cs typeface="Roboto"/>
                <a:sym typeface="Roboto"/>
              </a:rPr>
              <a:t>Membership type values (casual = casual member, member = annual member).</a:t>
            </a:r>
            <a:endParaRPr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lang="en" sz="1000">
                <a:latin typeface="Roboto"/>
                <a:ea typeface="Roboto"/>
                <a:cs typeface="Roboto"/>
                <a:sym typeface="Roboto"/>
              </a:rPr>
              <a:t>The values in the </a:t>
            </a:r>
            <a:r>
              <a:rPr lang="en" sz="1000">
                <a:latin typeface="Roboto"/>
                <a:ea typeface="Roboto"/>
                <a:cs typeface="Roboto"/>
                <a:sym typeface="Roboto"/>
              </a:rPr>
              <a:t>longitude</a:t>
            </a:r>
            <a:r>
              <a:rPr lang="en" sz="1000">
                <a:latin typeface="Roboto"/>
                <a:ea typeface="Roboto"/>
                <a:cs typeface="Roboto"/>
                <a:sym typeface="Roboto"/>
              </a:rPr>
              <a:t> &amp; latitude columns produced issues when converted to distances, therefore </a:t>
            </a:r>
            <a:r>
              <a:rPr b="1" lang="en" sz="1000" u="sng">
                <a:latin typeface="Roboto"/>
                <a:ea typeface="Roboto"/>
                <a:cs typeface="Roboto"/>
                <a:sym typeface="Roboto"/>
              </a:rPr>
              <a:t>the metric we used</a:t>
            </a:r>
            <a:r>
              <a:rPr lang="en" sz="1000">
                <a:latin typeface="Roboto"/>
                <a:ea typeface="Roboto"/>
                <a:cs typeface="Roboto"/>
                <a:sym typeface="Roboto"/>
              </a:rPr>
              <a:t> in this case study was the </a:t>
            </a:r>
            <a:r>
              <a:rPr b="1" lang="en" sz="1000" u="sng">
                <a:latin typeface="Roboto"/>
                <a:ea typeface="Roboto"/>
                <a:cs typeface="Roboto"/>
                <a:sym typeface="Roboto"/>
              </a:rPr>
              <a:t>duration column</a:t>
            </a:r>
            <a:r>
              <a:rPr lang="en" sz="1000">
                <a:latin typeface="Roboto"/>
                <a:ea typeface="Roboto"/>
                <a:cs typeface="Roboto"/>
                <a:sym typeface="Roboto"/>
              </a:rPr>
              <a:t> by extracting it from started_at &amp; ended_at.</a:t>
            </a:r>
            <a:endParaRPr>
              <a:latin typeface="Roboto"/>
              <a:ea typeface="Roboto"/>
              <a:cs typeface="Roboto"/>
              <a:sym typeface="Roboto"/>
            </a:endParaRPr>
          </a:p>
        </p:txBody>
      </p:sp>
      <p:sp>
        <p:nvSpPr>
          <p:cNvPr id="153" name="Google Shape;153;p31"/>
          <p:cNvSpPr txBox="1"/>
          <p:nvPr>
            <p:ph idx="1" type="body"/>
          </p:nvPr>
        </p:nvSpPr>
        <p:spPr>
          <a:xfrm>
            <a:off x="3459750" y="1845100"/>
            <a:ext cx="2224500" cy="25359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SzPts val="1000"/>
              <a:buFont typeface="Roboto"/>
              <a:buChar char="●"/>
            </a:pPr>
            <a:r>
              <a:rPr lang="en" sz="1000">
                <a:latin typeface="Roboto"/>
                <a:ea typeface="Roboto"/>
                <a:cs typeface="Roboto"/>
                <a:sym typeface="Roboto"/>
              </a:rPr>
              <a:t>Trips count for each membership type &amp; bike type</a:t>
            </a:r>
            <a:endParaRPr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Trips Distribution by duration in minutes</a:t>
            </a:r>
            <a:endParaRPr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Trips Distribution by hour of the day</a:t>
            </a:r>
            <a:endParaRPr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Trips Distribution by day of the week</a:t>
            </a:r>
            <a:endParaRPr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Average Trip Duration by membership type &amp; bike type</a:t>
            </a:r>
            <a:endParaRPr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Busiest Stations for both membership types</a:t>
            </a:r>
            <a:endParaRPr sz="1000">
              <a:latin typeface="Roboto"/>
              <a:ea typeface="Roboto"/>
              <a:cs typeface="Roboto"/>
              <a:sym typeface="Roboto"/>
            </a:endParaRPr>
          </a:p>
        </p:txBody>
      </p:sp>
      <p:sp>
        <p:nvSpPr>
          <p:cNvPr id="154" name="Google Shape;154;p31"/>
          <p:cNvSpPr txBox="1"/>
          <p:nvPr>
            <p:ph idx="1" type="body"/>
          </p:nvPr>
        </p:nvSpPr>
        <p:spPr>
          <a:xfrm>
            <a:off x="6208500" y="1845100"/>
            <a:ext cx="2224500" cy="28797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SzPts val="1000"/>
              <a:buFont typeface="Roboto"/>
              <a:buChar char="●"/>
            </a:pPr>
            <a:r>
              <a:rPr lang="en" sz="1000">
                <a:latin typeface="Roboto"/>
                <a:ea typeface="Roboto"/>
                <a:cs typeface="Roboto"/>
                <a:sym typeface="Roboto"/>
              </a:rPr>
              <a:t>My Discoveries</a:t>
            </a:r>
            <a:endParaRPr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Answers to the Ask Q</a:t>
            </a:r>
            <a:r>
              <a:rPr lang="en" sz="1000">
                <a:latin typeface="Roboto"/>
                <a:ea typeface="Roboto"/>
                <a:cs typeface="Roboto"/>
                <a:sym typeface="Roboto"/>
              </a:rPr>
              <a:t>u</a:t>
            </a:r>
            <a:r>
              <a:rPr lang="en" sz="1000">
                <a:latin typeface="Roboto"/>
                <a:ea typeface="Roboto"/>
                <a:cs typeface="Roboto"/>
                <a:sym typeface="Roboto"/>
              </a:rPr>
              <a:t>estions</a:t>
            </a:r>
            <a:endParaRPr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Hypothesis Proof</a:t>
            </a:r>
            <a:endParaRPr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Recommendations</a:t>
            </a:r>
            <a:endParaRPr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Future Work</a:t>
            </a:r>
            <a:endParaRPr sz="1000">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2"/>
          <p:cNvSpPr txBox="1"/>
          <p:nvPr>
            <p:ph type="title"/>
          </p:nvPr>
        </p:nvSpPr>
        <p:spPr>
          <a:xfrm>
            <a:off x="265500" y="129275"/>
            <a:ext cx="4045200" cy="126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400">
                <a:latin typeface="Roboto"/>
                <a:ea typeface="Roboto"/>
                <a:cs typeface="Roboto"/>
                <a:sym typeface="Roboto"/>
              </a:rPr>
              <a:t>Trips count for each membership type &amp; bike type Viz</a:t>
            </a:r>
            <a:endParaRPr i="1" sz="2400">
              <a:latin typeface="Roboto"/>
              <a:ea typeface="Roboto"/>
              <a:cs typeface="Roboto"/>
              <a:sym typeface="Roboto"/>
            </a:endParaRPr>
          </a:p>
        </p:txBody>
      </p:sp>
      <p:sp>
        <p:nvSpPr>
          <p:cNvPr id="160" name="Google Shape;160;p32"/>
          <p:cNvSpPr txBox="1"/>
          <p:nvPr>
            <p:ph idx="1" type="subTitle"/>
          </p:nvPr>
        </p:nvSpPr>
        <p:spPr>
          <a:xfrm>
            <a:off x="265500" y="1843700"/>
            <a:ext cx="4045200" cy="246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00000"/>
                </a:solidFill>
                <a:latin typeface="Arial"/>
                <a:ea typeface="Arial"/>
                <a:cs typeface="Arial"/>
                <a:sym typeface="Arial"/>
              </a:rPr>
              <a:t>Findings</a:t>
            </a:r>
            <a:r>
              <a:rPr b="1" lang="en" sz="1600">
                <a:solidFill>
                  <a:srgbClr val="000000"/>
                </a:solidFill>
                <a:latin typeface="Arial"/>
                <a:ea typeface="Arial"/>
                <a:cs typeface="Arial"/>
                <a:sym typeface="Arial"/>
              </a:rPr>
              <a:t>:</a:t>
            </a:r>
            <a:endParaRPr b="1" sz="1600">
              <a:solidFill>
                <a:srgbClr val="000000"/>
              </a:solidFill>
              <a:latin typeface="Arial"/>
              <a:ea typeface="Arial"/>
              <a:cs typeface="Arial"/>
              <a:sym typeface="Arial"/>
            </a:endParaRPr>
          </a:p>
          <a:p>
            <a:pPr indent="0" lvl="0" marL="0" rtl="0" algn="l">
              <a:spcBef>
                <a:spcPts val="0"/>
              </a:spcBef>
              <a:spcAft>
                <a:spcPts val="0"/>
              </a:spcAft>
              <a:buNone/>
            </a:pPr>
            <a:r>
              <a:t/>
            </a:r>
            <a:endParaRPr b="1" sz="14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We have more </a:t>
            </a:r>
            <a:r>
              <a:rPr lang="en" sz="1200">
                <a:solidFill>
                  <a:srgbClr val="6D9EEB"/>
                </a:solidFill>
                <a:latin typeface="Arial"/>
                <a:ea typeface="Arial"/>
                <a:cs typeface="Arial"/>
                <a:sym typeface="Arial"/>
              </a:rPr>
              <a:t>annual members</a:t>
            </a:r>
            <a:r>
              <a:rPr lang="en" sz="1200">
                <a:solidFill>
                  <a:srgbClr val="000000"/>
                </a:solidFill>
                <a:latin typeface="Arial"/>
                <a:ea typeface="Arial"/>
                <a:cs typeface="Arial"/>
                <a:sym typeface="Arial"/>
              </a:rPr>
              <a:t> than </a:t>
            </a:r>
            <a:r>
              <a:rPr lang="en" sz="1200">
                <a:solidFill>
                  <a:srgbClr val="FF9900"/>
                </a:solidFill>
                <a:latin typeface="Arial"/>
                <a:ea typeface="Arial"/>
                <a:cs typeface="Arial"/>
                <a:sym typeface="Arial"/>
              </a:rPr>
              <a:t>casual members</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Riders tend to prefer </a:t>
            </a:r>
            <a:r>
              <a:rPr lang="en" sz="1200" u="sng">
                <a:solidFill>
                  <a:srgbClr val="134F5C"/>
                </a:solidFill>
                <a:latin typeface="Arial"/>
                <a:ea typeface="Arial"/>
                <a:cs typeface="Arial"/>
                <a:sym typeface="Arial"/>
              </a:rPr>
              <a:t>Electric Bikes</a:t>
            </a:r>
            <a:r>
              <a:rPr lang="en" sz="1200">
                <a:solidFill>
                  <a:srgbClr val="000000"/>
                </a:solidFill>
                <a:latin typeface="Arial"/>
                <a:ea typeface="Arial"/>
                <a:cs typeface="Arial"/>
                <a:sym typeface="Arial"/>
              </a:rPr>
              <a:t> the most, followed by classic bikes and finally electric scooters.</a:t>
            </a:r>
            <a:endParaRPr sz="1200">
              <a:solidFill>
                <a:srgbClr val="000000"/>
              </a:solidFill>
              <a:latin typeface="Arial"/>
              <a:ea typeface="Arial"/>
              <a:cs typeface="Arial"/>
              <a:sym typeface="Arial"/>
            </a:endParaRPr>
          </a:p>
          <a:p>
            <a:pPr indent="0" lvl="0" marL="457200" rtl="0" algn="l">
              <a:spcBef>
                <a:spcPts val="0"/>
              </a:spcBef>
              <a:spcAft>
                <a:spcPts val="0"/>
              </a:spcAft>
              <a:buNone/>
            </a:pPr>
            <a:r>
              <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Both membership riders and casual riders prefer Electric Bikes the most!</a:t>
            </a:r>
            <a:endParaRPr sz="1200">
              <a:solidFill>
                <a:srgbClr val="000000"/>
              </a:solidFill>
              <a:latin typeface="Arial"/>
              <a:ea typeface="Arial"/>
              <a:cs typeface="Arial"/>
              <a:sym typeface="Arial"/>
            </a:endParaRPr>
          </a:p>
          <a:p>
            <a:pPr indent="0" lvl="0" marL="45720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a:latin typeface="Roboto"/>
              <a:ea typeface="Roboto"/>
              <a:cs typeface="Roboto"/>
              <a:sym typeface="Roboto"/>
            </a:endParaRPr>
          </a:p>
        </p:txBody>
      </p:sp>
      <p:pic>
        <p:nvPicPr>
          <p:cNvPr id="161" name="Google Shape;161;p32"/>
          <p:cNvPicPr preferRelativeResize="0"/>
          <p:nvPr/>
        </p:nvPicPr>
        <p:blipFill>
          <a:blip r:embed="rId3">
            <a:alphaModFix/>
          </a:blip>
          <a:stretch>
            <a:fillRect/>
          </a:stretch>
        </p:blipFill>
        <p:spPr>
          <a:xfrm>
            <a:off x="4448225" y="0"/>
            <a:ext cx="4695774" cy="5143501"/>
          </a:xfrm>
          <a:prstGeom prst="rect">
            <a:avLst/>
          </a:prstGeom>
          <a:noFill/>
          <a:ln>
            <a:noFill/>
          </a:ln>
        </p:spPr>
      </p:pic>
      <p:cxnSp>
        <p:nvCxnSpPr>
          <p:cNvPr id="162" name="Google Shape;162;p32"/>
          <p:cNvCxnSpPr/>
          <p:nvPr/>
        </p:nvCxnSpPr>
        <p:spPr>
          <a:xfrm>
            <a:off x="276625" y="1595550"/>
            <a:ext cx="3977100" cy="7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3"/>
          <p:cNvSpPr txBox="1"/>
          <p:nvPr>
            <p:ph type="title"/>
          </p:nvPr>
        </p:nvSpPr>
        <p:spPr>
          <a:xfrm>
            <a:off x="265500" y="129275"/>
            <a:ext cx="4045200" cy="134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400">
                <a:latin typeface="Roboto"/>
                <a:ea typeface="Roboto"/>
                <a:cs typeface="Roboto"/>
                <a:sym typeface="Roboto"/>
              </a:rPr>
              <a:t>Trips Distribution by duration in minutes Viz</a:t>
            </a:r>
            <a:endParaRPr i="1" sz="2400">
              <a:latin typeface="Roboto"/>
              <a:ea typeface="Roboto"/>
              <a:cs typeface="Roboto"/>
              <a:sym typeface="Roboto"/>
            </a:endParaRPr>
          </a:p>
        </p:txBody>
      </p:sp>
      <p:sp>
        <p:nvSpPr>
          <p:cNvPr id="168" name="Google Shape;168;p33"/>
          <p:cNvSpPr txBox="1"/>
          <p:nvPr>
            <p:ph idx="1" type="subTitle"/>
          </p:nvPr>
        </p:nvSpPr>
        <p:spPr>
          <a:xfrm>
            <a:off x="265500" y="1842000"/>
            <a:ext cx="4045200" cy="243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00000"/>
                </a:solidFill>
                <a:latin typeface="Arial"/>
                <a:ea typeface="Arial"/>
                <a:cs typeface="Arial"/>
                <a:sym typeface="Arial"/>
              </a:rPr>
              <a:t>Findings:</a:t>
            </a:r>
            <a:endParaRPr b="1" sz="1600">
              <a:solidFill>
                <a:srgbClr val="000000"/>
              </a:solidFill>
              <a:latin typeface="Arial"/>
              <a:ea typeface="Arial"/>
              <a:cs typeface="Arial"/>
              <a:sym typeface="Arial"/>
            </a:endParaRPr>
          </a:p>
          <a:p>
            <a:pPr indent="0" lvl="0" marL="0" rtl="0" algn="l">
              <a:spcBef>
                <a:spcPts val="0"/>
              </a:spcBef>
              <a:spcAft>
                <a:spcPts val="0"/>
              </a:spcAft>
              <a:buNone/>
            </a:pPr>
            <a:r>
              <a:t/>
            </a:r>
            <a:endParaRPr b="1" sz="14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Most of the trips fall between </a:t>
            </a:r>
            <a:r>
              <a:rPr b="1" lang="en" sz="1200">
                <a:solidFill>
                  <a:srgbClr val="000000"/>
                </a:solidFill>
                <a:latin typeface="Arial"/>
                <a:ea typeface="Arial"/>
                <a:cs typeface="Arial"/>
                <a:sym typeface="Arial"/>
              </a:rPr>
              <a:t>[1.3 , 30]</a:t>
            </a:r>
            <a:r>
              <a:rPr lang="en" sz="1200">
                <a:solidFill>
                  <a:srgbClr val="000000"/>
                </a:solidFill>
                <a:latin typeface="Arial"/>
                <a:ea typeface="Arial"/>
                <a:cs typeface="Arial"/>
                <a:sym typeface="Arial"/>
              </a:rPr>
              <a:t> minutes with a percentage of </a:t>
            </a:r>
            <a:r>
              <a:rPr lang="en" sz="1200" u="sng">
                <a:solidFill>
                  <a:srgbClr val="000000"/>
                </a:solidFill>
                <a:latin typeface="Arial"/>
                <a:ea typeface="Arial"/>
                <a:cs typeface="Arial"/>
                <a:sym typeface="Arial"/>
              </a:rPr>
              <a:t>91.1%</a:t>
            </a:r>
            <a:endParaRPr sz="1200" u="sng">
              <a:solidFill>
                <a:srgbClr val="000000"/>
              </a:solidFill>
              <a:latin typeface="Arial"/>
              <a:ea typeface="Arial"/>
              <a:cs typeface="Arial"/>
              <a:sym typeface="Arial"/>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The Distribution implies that most riders have a </a:t>
            </a:r>
            <a:r>
              <a:rPr b="1" i="1" lang="en" sz="1200">
                <a:solidFill>
                  <a:srgbClr val="000000"/>
                </a:solidFill>
                <a:latin typeface="Arial"/>
                <a:ea typeface="Arial"/>
                <a:cs typeface="Arial"/>
                <a:sym typeface="Arial"/>
              </a:rPr>
              <a:t>trip duration less than 120 minutes</a:t>
            </a:r>
            <a:r>
              <a:rPr lang="en" sz="12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a:latin typeface="Roboto"/>
              <a:ea typeface="Roboto"/>
              <a:cs typeface="Roboto"/>
              <a:sym typeface="Roboto"/>
            </a:endParaRPr>
          </a:p>
        </p:txBody>
      </p:sp>
      <p:pic>
        <p:nvPicPr>
          <p:cNvPr id="169" name="Google Shape;169;p33"/>
          <p:cNvPicPr preferRelativeResize="0"/>
          <p:nvPr/>
        </p:nvPicPr>
        <p:blipFill>
          <a:blip r:embed="rId3">
            <a:alphaModFix/>
          </a:blip>
          <a:stretch>
            <a:fillRect/>
          </a:stretch>
        </p:blipFill>
        <p:spPr>
          <a:xfrm>
            <a:off x="4448225" y="1"/>
            <a:ext cx="4695774" cy="5143501"/>
          </a:xfrm>
          <a:prstGeom prst="rect">
            <a:avLst/>
          </a:prstGeom>
          <a:noFill/>
          <a:ln>
            <a:noFill/>
          </a:ln>
        </p:spPr>
      </p:pic>
      <p:cxnSp>
        <p:nvCxnSpPr>
          <p:cNvPr id="170" name="Google Shape;170;p33"/>
          <p:cNvCxnSpPr/>
          <p:nvPr/>
        </p:nvCxnSpPr>
        <p:spPr>
          <a:xfrm>
            <a:off x="276625" y="1595550"/>
            <a:ext cx="3977100" cy="7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4"/>
          <p:cNvSpPr txBox="1"/>
          <p:nvPr>
            <p:ph type="title"/>
          </p:nvPr>
        </p:nvSpPr>
        <p:spPr>
          <a:xfrm>
            <a:off x="265500" y="129275"/>
            <a:ext cx="4045200" cy="126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400">
                <a:latin typeface="Roboto"/>
                <a:ea typeface="Roboto"/>
                <a:cs typeface="Roboto"/>
                <a:sym typeface="Roboto"/>
              </a:rPr>
              <a:t>Trips Distribution by hour of the day</a:t>
            </a:r>
            <a:r>
              <a:rPr i="1" lang="en" sz="2400">
                <a:latin typeface="Roboto"/>
                <a:ea typeface="Roboto"/>
                <a:cs typeface="Roboto"/>
                <a:sym typeface="Roboto"/>
              </a:rPr>
              <a:t> Viz</a:t>
            </a:r>
            <a:endParaRPr i="1" sz="2400">
              <a:latin typeface="Roboto"/>
              <a:ea typeface="Roboto"/>
              <a:cs typeface="Roboto"/>
              <a:sym typeface="Roboto"/>
            </a:endParaRPr>
          </a:p>
        </p:txBody>
      </p:sp>
      <p:sp>
        <p:nvSpPr>
          <p:cNvPr id="176" name="Google Shape;176;p34"/>
          <p:cNvSpPr txBox="1"/>
          <p:nvPr>
            <p:ph idx="1" type="subTitle"/>
          </p:nvPr>
        </p:nvSpPr>
        <p:spPr>
          <a:xfrm>
            <a:off x="265500" y="1843700"/>
            <a:ext cx="4045200" cy="277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00000"/>
                </a:solidFill>
                <a:latin typeface="Arial"/>
                <a:ea typeface="Arial"/>
                <a:cs typeface="Arial"/>
                <a:sym typeface="Arial"/>
              </a:rPr>
              <a:t>Findings:</a:t>
            </a:r>
            <a:endParaRPr b="1" sz="1600">
              <a:solidFill>
                <a:srgbClr val="000000"/>
              </a:solidFill>
              <a:latin typeface="Arial"/>
              <a:ea typeface="Arial"/>
              <a:cs typeface="Arial"/>
              <a:sym typeface="Arial"/>
            </a:endParaRPr>
          </a:p>
          <a:p>
            <a:pPr indent="0" lvl="0" marL="0" rtl="0" algn="l">
              <a:spcBef>
                <a:spcPts val="0"/>
              </a:spcBef>
              <a:spcAft>
                <a:spcPts val="0"/>
              </a:spcAft>
              <a:buNone/>
            </a:pPr>
            <a:r>
              <a:t/>
            </a:r>
            <a:endParaRPr b="1" sz="14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Trips start increasing from 4 AM, until they reach a </a:t>
            </a:r>
            <a:r>
              <a:rPr b="1" lang="en" sz="1200">
                <a:solidFill>
                  <a:srgbClr val="000000"/>
                </a:solidFill>
                <a:latin typeface="Arial"/>
                <a:ea typeface="Arial"/>
                <a:cs typeface="Arial"/>
                <a:sym typeface="Arial"/>
              </a:rPr>
              <a:t>peak</a:t>
            </a:r>
            <a:r>
              <a:rPr lang="en" sz="1200">
                <a:solidFill>
                  <a:srgbClr val="000000"/>
                </a:solidFill>
                <a:latin typeface="Arial"/>
                <a:ea typeface="Arial"/>
                <a:cs typeface="Arial"/>
                <a:sym typeface="Arial"/>
              </a:rPr>
              <a:t> around </a:t>
            </a:r>
            <a:r>
              <a:rPr b="1" lang="en" sz="1200">
                <a:solidFill>
                  <a:srgbClr val="000000"/>
                </a:solidFill>
                <a:latin typeface="Arial"/>
                <a:ea typeface="Arial"/>
                <a:cs typeface="Arial"/>
                <a:sym typeface="Arial"/>
              </a:rPr>
              <a:t>11 AM - 1 PM</a:t>
            </a:r>
            <a:r>
              <a:rPr lang="en" sz="1200">
                <a:solidFill>
                  <a:srgbClr val="000000"/>
                </a:solidFill>
                <a:latin typeface="Arial"/>
                <a:ea typeface="Arial"/>
                <a:cs typeface="Arial"/>
                <a:sym typeface="Arial"/>
              </a:rPr>
              <a:t>, </a:t>
            </a:r>
            <a:r>
              <a:rPr lang="en" sz="1200">
                <a:solidFill>
                  <a:srgbClr val="000000"/>
                </a:solidFill>
                <a:latin typeface="Arial"/>
                <a:ea typeface="Arial"/>
                <a:cs typeface="Arial"/>
                <a:sym typeface="Arial"/>
              </a:rPr>
              <a:t>after which</a:t>
            </a:r>
            <a:r>
              <a:rPr lang="en" sz="1200">
                <a:solidFill>
                  <a:srgbClr val="000000"/>
                </a:solidFill>
                <a:latin typeface="Arial"/>
                <a:ea typeface="Arial"/>
                <a:cs typeface="Arial"/>
                <a:sym typeface="Arial"/>
              </a:rPr>
              <a:t> they continue to drop approaching a linear amount.</a:t>
            </a:r>
            <a:endParaRPr sz="1200">
              <a:solidFill>
                <a:srgbClr val="000000"/>
              </a:solidFill>
              <a:latin typeface="Arial"/>
              <a:ea typeface="Arial"/>
              <a:cs typeface="Arial"/>
              <a:sym typeface="Arial"/>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We notice a sudden increase in trips around </a:t>
            </a:r>
            <a:r>
              <a:rPr b="1" lang="en" sz="1200">
                <a:solidFill>
                  <a:srgbClr val="000000"/>
                </a:solidFill>
                <a:latin typeface="Arial"/>
                <a:ea typeface="Arial"/>
                <a:cs typeface="Arial"/>
                <a:sym typeface="Arial"/>
              </a:rPr>
              <a:t>11 AM - 1 PM</a:t>
            </a:r>
            <a:r>
              <a:rPr lang="en" sz="1200">
                <a:solidFill>
                  <a:srgbClr val="000000"/>
                </a:solidFill>
                <a:latin typeface="Arial"/>
                <a:ea typeface="Arial"/>
                <a:cs typeface="Arial"/>
                <a:sym typeface="Arial"/>
              </a:rPr>
              <a:t> which should be considered a great time to </a:t>
            </a:r>
            <a:r>
              <a:rPr b="1" lang="en" sz="1200">
                <a:solidFill>
                  <a:srgbClr val="000000"/>
                </a:solidFill>
                <a:latin typeface="Arial"/>
                <a:ea typeface="Arial"/>
                <a:cs typeface="Arial"/>
                <a:sym typeface="Arial"/>
              </a:rPr>
              <a:t>focus our marketing strategies &amp; advertisements</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0" lvl="0" marL="457200" rtl="0" algn="l">
              <a:spcBef>
                <a:spcPts val="0"/>
              </a:spcBef>
              <a:spcAft>
                <a:spcPts val="0"/>
              </a:spcAft>
              <a:buNone/>
            </a:pPr>
            <a:r>
              <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During the peak, we reach an amount of </a:t>
            </a:r>
            <a:r>
              <a:rPr b="1" lang="en" sz="1200">
                <a:solidFill>
                  <a:srgbClr val="000000"/>
                </a:solidFill>
                <a:latin typeface="Arial"/>
                <a:ea typeface="Arial"/>
                <a:cs typeface="Arial"/>
                <a:sym typeface="Arial"/>
              </a:rPr>
              <a:t>470,000</a:t>
            </a:r>
            <a:r>
              <a:rPr lang="en" sz="1200">
                <a:solidFill>
                  <a:srgbClr val="000000"/>
                </a:solidFill>
                <a:latin typeface="Arial"/>
                <a:ea typeface="Arial"/>
                <a:cs typeface="Arial"/>
                <a:sym typeface="Arial"/>
              </a:rPr>
              <a:t> concurrent trips.</a:t>
            </a:r>
            <a:endParaRPr sz="1200">
              <a:solidFill>
                <a:srgbClr val="000000"/>
              </a:solidFill>
              <a:latin typeface="Arial"/>
              <a:ea typeface="Arial"/>
              <a:cs typeface="Arial"/>
              <a:sym typeface="Arial"/>
            </a:endParaRPr>
          </a:p>
          <a:p>
            <a:pPr indent="0" lvl="0" marL="45720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a:latin typeface="Roboto"/>
              <a:ea typeface="Roboto"/>
              <a:cs typeface="Roboto"/>
              <a:sym typeface="Roboto"/>
            </a:endParaRPr>
          </a:p>
        </p:txBody>
      </p:sp>
      <p:pic>
        <p:nvPicPr>
          <p:cNvPr id="177" name="Google Shape;177;p34"/>
          <p:cNvPicPr preferRelativeResize="0"/>
          <p:nvPr/>
        </p:nvPicPr>
        <p:blipFill>
          <a:blip r:embed="rId3">
            <a:alphaModFix/>
          </a:blip>
          <a:stretch>
            <a:fillRect/>
          </a:stretch>
        </p:blipFill>
        <p:spPr>
          <a:xfrm>
            <a:off x="4448225" y="1"/>
            <a:ext cx="4695774" cy="5143501"/>
          </a:xfrm>
          <a:prstGeom prst="rect">
            <a:avLst/>
          </a:prstGeom>
          <a:noFill/>
          <a:ln>
            <a:noFill/>
          </a:ln>
        </p:spPr>
      </p:pic>
      <p:cxnSp>
        <p:nvCxnSpPr>
          <p:cNvPr id="178" name="Google Shape;178;p34"/>
          <p:cNvCxnSpPr/>
          <p:nvPr/>
        </p:nvCxnSpPr>
        <p:spPr>
          <a:xfrm>
            <a:off x="276625" y="1595550"/>
            <a:ext cx="3977100" cy="7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5"/>
          <p:cNvSpPr txBox="1"/>
          <p:nvPr>
            <p:ph type="title"/>
          </p:nvPr>
        </p:nvSpPr>
        <p:spPr>
          <a:xfrm>
            <a:off x="265500" y="129275"/>
            <a:ext cx="4045200" cy="126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400">
                <a:latin typeface="Roboto"/>
                <a:ea typeface="Roboto"/>
                <a:cs typeface="Roboto"/>
                <a:sym typeface="Roboto"/>
              </a:rPr>
              <a:t>Trips Distribution by day of the week</a:t>
            </a:r>
            <a:r>
              <a:rPr i="1" lang="en" sz="2400">
                <a:latin typeface="Roboto"/>
                <a:ea typeface="Roboto"/>
                <a:cs typeface="Roboto"/>
                <a:sym typeface="Roboto"/>
              </a:rPr>
              <a:t> Viz</a:t>
            </a:r>
            <a:endParaRPr i="1" sz="2400">
              <a:latin typeface="Roboto"/>
              <a:ea typeface="Roboto"/>
              <a:cs typeface="Roboto"/>
              <a:sym typeface="Roboto"/>
            </a:endParaRPr>
          </a:p>
        </p:txBody>
      </p:sp>
      <p:sp>
        <p:nvSpPr>
          <p:cNvPr id="184" name="Google Shape;184;p35"/>
          <p:cNvSpPr txBox="1"/>
          <p:nvPr>
            <p:ph idx="1" type="subTitle"/>
          </p:nvPr>
        </p:nvSpPr>
        <p:spPr>
          <a:xfrm>
            <a:off x="265500" y="1843700"/>
            <a:ext cx="4045200" cy="277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00000"/>
                </a:solidFill>
                <a:latin typeface="Arial"/>
                <a:ea typeface="Arial"/>
                <a:cs typeface="Arial"/>
                <a:sym typeface="Arial"/>
              </a:rPr>
              <a:t>Findings:</a:t>
            </a:r>
            <a:endParaRPr b="1" sz="1600">
              <a:solidFill>
                <a:srgbClr val="000000"/>
              </a:solidFill>
              <a:latin typeface="Arial"/>
              <a:ea typeface="Arial"/>
              <a:cs typeface="Arial"/>
              <a:sym typeface="Arial"/>
            </a:endParaRPr>
          </a:p>
          <a:p>
            <a:pPr indent="0" lvl="0" marL="0" rtl="0" algn="l">
              <a:spcBef>
                <a:spcPts val="0"/>
              </a:spcBef>
              <a:spcAft>
                <a:spcPts val="0"/>
              </a:spcAft>
              <a:buNone/>
            </a:pPr>
            <a:r>
              <a:t/>
            </a:r>
            <a:endParaRPr b="1" sz="14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u="sng">
                <a:solidFill>
                  <a:srgbClr val="000000"/>
                </a:solidFill>
                <a:latin typeface="Arial"/>
                <a:ea typeface="Arial"/>
                <a:cs typeface="Arial"/>
                <a:sym typeface="Arial"/>
              </a:rPr>
              <a:t>Annual Members</a:t>
            </a:r>
            <a:r>
              <a:rPr lang="en" sz="1200">
                <a:solidFill>
                  <a:srgbClr val="000000"/>
                </a:solidFill>
                <a:latin typeface="Arial"/>
                <a:ea typeface="Arial"/>
                <a:cs typeface="Arial"/>
                <a:sym typeface="Arial"/>
              </a:rPr>
              <a:t> </a:t>
            </a:r>
            <a:r>
              <a:rPr i="1" lang="en" sz="1200">
                <a:solidFill>
                  <a:srgbClr val="000000"/>
                </a:solidFill>
                <a:latin typeface="Arial"/>
                <a:ea typeface="Arial"/>
                <a:cs typeface="Arial"/>
                <a:sym typeface="Arial"/>
              </a:rPr>
              <a:t>use our bikes the most during</a:t>
            </a:r>
            <a:r>
              <a:rPr lang="en" sz="1200">
                <a:solidFill>
                  <a:srgbClr val="000000"/>
                </a:solidFill>
                <a:latin typeface="Arial"/>
                <a:ea typeface="Arial"/>
                <a:cs typeface="Arial"/>
                <a:sym typeface="Arial"/>
              </a:rPr>
              <a:t> </a:t>
            </a:r>
            <a:r>
              <a:rPr b="1" lang="en" sz="1200">
                <a:solidFill>
                  <a:srgbClr val="000000"/>
                </a:solidFill>
                <a:latin typeface="Arial"/>
                <a:ea typeface="Arial"/>
                <a:cs typeface="Arial"/>
                <a:sym typeface="Arial"/>
              </a:rPr>
              <a:t>Business Days:</a:t>
            </a:r>
            <a:r>
              <a:rPr lang="en" sz="1200">
                <a:solidFill>
                  <a:srgbClr val="000000"/>
                </a:solidFill>
                <a:latin typeface="Arial"/>
                <a:ea typeface="Arial"/>
                <a:cs typeface="Arial"/>
                <a:sym typeface="Arial"/>
              </a:rPr>
              <a:t> </a:t>
            </a:r>
            <a:r>
              <a:rPr i="1" lang="en" sz="1200">
                <a:solidFill>
                  <a:srgbClr val="000000"/>
                </a:solidFill>
                <a:latin typeface="Arial"/>
                <a:ea typeface="Arial"/>
                <a:cs typeface="Arial"/>
                <a:sym typeface="Arial"/>
              </a:rPr>
              <a:t>Wednesday, Thursday, Tuesday</a:t>
            </a:r>
            <a:endParaRPr i="1" sz="1200">
              <a:solidFill>
                <a:srgbClr val="000000"/>
              </a:solidFill>
              <a:latin typeface="Arial"/>
              <a:ea typeface="Arial"/>
              <a:cs typeface="Arial"/>
              <a:sym typeface="Arial"/>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u="sng">
                <a:solidFill>
                  <a:srgbClr val="000000"/>
                </a:solidFill>
                <a:latin typeface="Arial"/>
                <a:ea typeface="Arial"/>
                <a:cs typeface="Arial"/>
                <a:sym typeface="Arial"/>
              </a:rPr>
              <a:t>Casual Members</a:t>
            </a:r>
            <a:r>
              <a:rPr lang="en" sz="1200">
                <a:solidFill>
                  <a:srgbClr val="000000"/>
                </a:solidFill>
                <a:latin typeface="Arial"/>
                <a:ea typeface="Arial"/>
                <a:cs typeface="Arial"/>
                <a:sym typeface="Arial"/>
              </a:rPr>
              <a:t> </a:t>
            </a:r>
            <a:r>
              <a:rPr i="1" lang="en" sz="1200">
                <a:solidFill>
                  <a:srgbClr val="000000"/>
                </a:solidFill>
                <a:latin typeface="Arial"/>
                <a:ea typeface="Arial"/>
                <a:cs typeface="Arial"/>
                <a:sym typeface="Arial"/>
              </a:rPr>
              <a:t>use our bikes the most during </a:t>
            </a:r>
            <a:r>
              <a:rPr b="1" lang="en" sz="1200">
                <a:solidFill>
                  <a:srgbClr val="000000"/>
                </a:solidFill>
                <a:latin typeface="Arial"/>
                <a:ea typeface="Arial"/>
                <a:cs typeface="Arial"/>
                <a:sym typeface="Arial"/>
              </a:rPr>
              <a:t>Weekends: </a:t>
            </a:r>
            <a:r>
              <a:rPr i="1" lang="en" sz="1200">
                <a:solidFill>
                  <a:srgbClr val="000000"/>
                </a:solidFill>
                <a:latin typeface="Arial"/>
                <a:ea typeface="Arial"/>
                <a:cs typeface="Arial"/>
                <a:sym typeface="Arial"/>
              </a:rPr>
              <a:t>Saturday, Sunday, Friday</a:t>
            </a:r>
            <a:endParaRPr b="1" i="1" sz="1200">
              <a:solidFill>
                <a:srgbClr val="000000"/>
              </a:solidFill>
              <a:latin typeface="Arial"/>
              <a:ea typeface="Arial"/>
              <a:cs typeface="Arial"/>
              <a:sym typeface="Arial"/>
            </a:endParaRPr>
          </a:p>
          <a:p>
            <a:pPr indent="0" lvl="0" marL="457200" rtl="0" algn="l">
              <a:spcBef>
                <a:spcPts val="0"/>
              </a:spcBef>
              <a:spcAft>
                <a:spcPts val="0"/>
              </a:spcAft>
              <a:buNone/>
            </a:pPr>
            <a:r>
              <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i="1" lang="en" sz="1200">
                <a:solidFill>
                  <a:srgbClr val="000000"/>
                </a:solidFill>
                <a:latin typeface="Arial"/>
                <a:ea typeface="Arial"/>
                <a:cs typeface="Arial"/>
                <a:sym typeface="Arial"/>
              </a:rPr>
              <a:t>This could imply that</a:t>
            </a:r>
            <a:r>
              <a:rPr lang="en" sz="1200">
                <a:solidFill>
                  <a:srgbClr val="000000"/>
                </a:solidFill>
                <a:latin typeface="Arial"/>
                <a:ea typeface="Arial"/>
                <a:cs typeface="Arial"/>
                <a:sym typeface="Arial"/>
              </a:rPr>
              <a:t> </a:t>
            </a:r>
            <a:r>
              <a:rPr lang="en" sz="1200" u="sng">
                <a:solidFill>
                  <a:srgbClr val="000000"/>
                </a:solidFill>
                <a:latin typeface="Arial"/>
                <a:ea typeface="Arial"/>
                <a:cs typeface="Arial"/>
                <a:sym typeface="Arial"/>
              </a:rPr>
              <a:t>annual members</a:t>
            </a:r>
            <a:r>
              <a:rPr lang="en" sz="1200">
                <a:solidFill>
                  <a:srgbClr val="000000"/>
                </a:solidFill>
                <a:latin typeface="Arial"/>
                <a:ea typeface="Arial"/>
                <a:cs typeface="Arial"/>
                <a:sym typeface="Arial"/>
              </a:rPr>
              <a:t> </a:t>
            </a:r>
            <a:r>
              <a:rPr i="1" lang="en" sz="1200">
                <a:solidFill>
                  <a:srgbClr val="000000"/>
                </a:solidFill>
                <a:latin typeface="Arial"/>
                <a:ea typeface="Arial"/>
                <a:cs typeface="Arial"/>
                <a:sym typeface="Arial"/>
              </a:rPr>
              <a:t>tend to use</a:t>
            </a:r>
            <a:r>
              <a:rPr lang="en" sz="1200">
                <a:solidFill>
                  <a:srgbClr val="000000"/>
                </a:solidFill>
                <a:latin typeface="Arial"/>
                <a:ea typeface="Arial"/>
                <a:cs typeface="Arial"/>
                <a:sym typeface="Arial"/>
              </a:rPr>
              <a:t> </a:t>
            </a:r>
            <a:r>
              <a:rPr i="1" lang="en" sz="1200">
                <a:solidFill>
                  <a:srgbClr val="000000"/>
                </a:solidFill>
                <a:latin typeface="Arial"/>
                <a:ea typeface="Arial"/>
                <a:cs typeface="Arial"/>
                <a:sym typeface="Arial"/>
              </a:rPr>
              <a:t>our bikes for</a:t>
            </a:r>
            <a:r>
              <a:rPr lang="en" sz="1200">
                <a:solidFill>
                  <a:srgbClr val="000000"/>
                </a:solidFill>
                <a:latin typeface="Arial"/>
                <a:ea typeface="Arial"/>
                <a:cs typeface="Arial"/>
                <a:sym typeface="Arial"/>
              </a:rPr>
              <a:t> </a:t>
            </a:r>
            <a:r>
              <a:rPr b="1" lang="en" sz="1200">
                <a:solidFill>
                  <a:srgbClr val="000000"/>
                </a:solidFill>
                <a:latin typeface="Arial"/>
                <a:ea typeface="Arial"/>
                <a:cs typeface="Arial"/>
                <a:sym typeface="Arial"/>
              </a:rPr>
              <a:t>work related purposes</a:t>
            </a:r>
            <a:r>
              <a:rPr lang="en" sz="1200">
                <a:solidFill>
                  <a:srgbClr val="000000"/>
                </a:solidFill>
                <a:latin typeface="Arial"/>
                <a:ea typeface="Arial"/>
                <a:cs typeface="Arial"/>
                <a:sym typeface="Arial"/>
              </a:rPr>
              <a:t>, </a:t>
            </a:r>
            <a:r>
              <a:rPr i="1" lang="en" sz="1200">
                <a:solidFill>
                  <a:srgbClr val="000000"/>
                </a:solidFill>
                <a:latin typeface="Arial"/>
                <a:ea typeface="Arial"/>
                <a:cs typeface="Arial"/>
                <a:sym typeface="Arial"/>
              </a:rPr>
              <a:t>while</a:t>
            </a:r>
            <a:r>
              <a:rPr lang="en" sz="1200">
                <a:solidFill>
                  <a:srgbClr val="000000"/>
                </a:solidFill>
                <a:latin typeface="Arial"/>
                <a:ea typeface="Arial"/>
                <a:cs typeface="Arial"/>
                <a:sym typeface="Arial"/>
              </a:rPr>
              <a:t> </a:t>
            </a:r>
            <a:r>
              <a:rPr lang="en" sz="1200" u="sng">
                <a:solidFill>
                  <a:srgbClr val="000000"/>
                </a:solidFill>
                <a:latin typeface="Arial"/>
                <a:ea typeface="Arial"/>
                <a:cs typeface="Arial"/>
                <a:sym typeface="Arial"/>
              </a:rPr>
              <a:t>casual members</a:t>
            </a:r>
            <a:r>
              <a:rPr lang="en" sz="1200">
                <a:solidFill>
                  <a:srgbClr val="000000"/>
                </a:solidFill>
                <a:latin typeface="Arial"/>
                <a:ea typeface="Arial"/>
                <a:cs typeface="Arial"/>
                <a:sym typeface="Arial"/>
              </a:rPr>
              <a:t> </a:t>
            </a:r>
            <a:r>
              <a:rPr i="1" lang="en" sz="1200">
                <a:solidFill>
                  <a:srgbClr val="000000"/>
                </a:solidFill>
                <a:latin typeface="Arial"/>
                <a:ea typeface="Arial"/>
                <a:cs typeface="Arial"/>
                <a:sym typeface="Arial"/>
              </a:rPr>
              <a:t>could be using them for </a:t>
            </a:r>
            <a:r>
              <a:rPr b="1" lang="en" sz="1200">
                <a:solidFill>
                  <a:srgbClr val="000000"/>
                </a:solidFill>
                <a:latin typeface="Arial"/>
                <a:ea typeface="Arial"/>
                <a:cs typeface="Arial"/>
                <a:sym typeface="Arial"/>
              </a:rPr>
              <a:t>leisure &amp; sports</a:t>
            </a:r>
            <a:endParaRPr b="1" sz="1200">
              <a:solidFill>
                <a:srgbClr val="000000"/>
              </a:solidFill>
              <a:latin typeface="Arial"/>
              <a:ea typeface="Arial"/>
              <a:cs typeface="Arial"/>
              <a:sym typeface="Arial"/>
            </a:endParaRPr>
          </a:p>
          <a:p>
            <a:pPr indent="0" lvl="0" marL="45720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a:latin typeface="Roboto"/>
              <a:ea typeface="Roboto"/>
              <a:cs typeface="Roboto"/>
              <a:sym typeface="Roboto"/>
            </a:endParaRPr>
          </a:p>
        </p:txBody>
      </p:sp>
      <p:pic>
        <p:nvPicPr>
          <p:cNvPr id="185" name="Google Shape;185;p35"/>
          <p:cNvPicPr preferRelativeResize="0"/>
          <p:nvPr/>
        </p:nvPicPr>
        <p:blipFill>
          <a:blip r:embed="rId3">
            <a:alphaModFix/>
          </a:blip>
          <a:stretch>
            <a:fillRect/>
          </a:stretch>
        </p:blipFill>
        <p:spPr>
          <a:xfrm>
            <a:off x="4448225" y="1"/>
            <a:ext cx="4695774" cy="5143501"/>
          </a:xfrm>
          <a:prstGeom prst="rect">
            <a:avLst/>
          </a:prstGeom>
          <a:noFill/>
          <a:ln>
            <a:noFill/>
          </a:ln>
        </p:spPr>
      </p:pic>
      <p:cxnSp>
        <p:nvCxnSpPr>
          <p:cNvPr id="186" name="Google Shape;186;p35"/>
          <p:cNvCxnSpPr/>
          <p:nvPr/>
        </p:nvCxnSpPr>
        <p:spPr>
          <a:xfrm>
            <a:off x="276625" y="1595550"/>
            <a:ext cx="3977100" cy="7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6"/>
          <p:cNvSpPr txBox="1"/>
          <p:nvPr>
            <p:ph type="title"/>
          </p:nvPr>
        </p:nvSpPr>
        <p:spPr>
          <a:xfrm>
            <a:off x="265500" y="129275"/>
            <a:ext cx="4045200" cy="126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400">
                <a:latin typeface="Roboto"/>
                <a:ea typeface="Roboto"/>
                <a:cs typeface="Roboto"/>
                <a:sym typeface="Roboto"/>
              </a:rPr>
              <a:t>Average Trip Duration by membership type &amp; bike type</a:t>
            </a:r>
            <a:endParaRPr i="1" sz="2400">
              <a:latin typeface="Roboto"/>
              <a:ea typeface="Roboto"/>
              <a:cs typeface="Roboto"/>
              <a:sym typeface="Roboto"/>
            </a:endParaRPr>
          </a:p>
          <a:p>
            <a:pPr indent="0" lvl="0" marL="0" rtl="0" algn="l">
              <a:spcBef>
                <a:spcPts val="0"/>
              </a:spcBef>
              <a:spcAft>
                <a:spcPts val="0"/>
              </a:spcAft>
              <a:buNone/>
            </a:pPr>
            <a:r>
              <a:rPr i="1" lang="en" sz="2400">
                <a:latin typeface="Roboto"/>
                <a:ea typeface="Roboto"/>
                <a:cs typeface="Roboto"/>
                <a:sym typeface="Roboto"/>
              </a:rPr>
              <a:t>Viz</a:t>
            </a:r>
            <a:endParaRPr i="1" sz="2400">
              <a:latin typeface="Roboto"/>
              <a:ea typeface="Roboto"/>
              <a:cs typeface="Roboto"/>
              <a:sym typeface="Roboto"/>
            </a:endParaRPr>
          </a:p>
        </p:txBody>
      </p:sp>
      <p:sp>
        <p:nvSpPr>
          <p:cNvPr id="192" name="Google Shape;192;p36"/>
          <p:cNvSpPr txBox="1"/>
          <p:nvPr>
            <p:ph idx="1" type="subTitle"/>
          </p:nvPr>
        </p:nvSpPr>
        <p:spPr>
          <a:xfrm>
            <a:off x="265500" y="1843700"/>
            <a:ext cx="4045200" cy="277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00000"/>
                </a:solidFill>
                <a:latin typeface="Arial"/>
                <a:ea typeface="Arial"/>
                <a:cs typeface="Arial"/>
                <a:sym typeface="Arial"/>
              </a:rPr>
              <a:t>Findings:</a:t>
            </a:r>
            <a:endParaRPr b="1" sz="1600">
              <a:solidFill>
                <a:srgbClr val="000000"/>
              </a:solidFill>
              <a:latin typeface="Arial"/>
              <a:ea typeface="Arial"/>
              <a:cs typeface="Arial"/>
              <a:sym typeface="Arial"/>
            </a:endParaRPr>
          </a:p>
          <a:p>
            <a:pPr indent="0" lvl="0" marL="0" rtl="0" algn="l">
              <a:spcBef>
                <a:spcPts val="0"/>
              </a:spcBef>
              <a:spcAft>
                <a:spcPts val="0"/>
              </a:spcAft>
              <a:buNone/>
            </a:pPr>
            <a:r>
              <a:t/>
            </a:r>
            <a:endParaRPr b="1" sz="14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u="sng">
                <a:solidFill>
                  <a:srgbClr val="000000"/>
                </a:solidFill>
                <a:latin typeface="Arial"/>
                <a:ea typeface="Arial"/>
                <a:cs typeface="Arial"/>
                <a:sym typeface="Arial"/>
              </a:rPr>
              <a:t>Annual Members</a:t>
            </a:r>
            <a:r>
              <a:rPr lang="en" sz="1200">
                <a:solidFill>
                  <a:srgbClr val="000000"/>
                </a:solidFill>
                <a:latin typeface="Arial"/>
                <a:ea typeface="Arial"/>
                <a:cs typeface="Arial"/>
                <a:sym typeface="Arial"/>
              </a:rPr>
              <a:t> </a:t>
            </a:r>
            <a:r>
              <a:rPr i="1" lang="en" sz="1200">
                <a:solidFill>
                  <a:srgbClr val="000000"/>
                </a:solidFill>
                <a:latin typeface="Arial"/>
                <a:ea typeface="Arial"/>
                <a:cs typeface="Arial"/>
                <a:sym typeface="Arial"/>
              </a:rPr>
              <a:t>tend to have a shorter trip on average than casual members regardless of the bike type</a:t>
            </a:r>
            <a:endParaRPr i="1" sz="1200">
              <a:solidFill>
                <a:srgbClr val="000000"/>
              </a:solidFill>
              <a:latin typeface="Arial"/>
              <a:ea typeface="Arial"/>
              <a:cs typeface="Arial"/>
              <a:sym typeface="Arial"/>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u="sng">
                <a:solidFill>
                  <a:srgbClr val="000000"/>
                </a:solidFill>
                <a:latin typeface="Arial"/>
                <a:ea typeface="Arial"/>
                <a:cs typeface="Arial"/>
                <a:sym typeface="Arial"/>
              </a:rPr>
              <a:t>Casual Members</a:t>
            </a:r>
            <a:r>
              <a:rPr lang="en" sz="1200">
                <a:solidFill>
                  <a:srgbClr val="000000"/>
                </a:solidFill>
                <a:latin typeface="Arial"/>
                <a:ea typeface="Arial"/>
                <a:cs typeface="Arial"/>
                <a:sym typeface="Arial"/>
              </a:rPr>
              <a:t> </a:t>
            </a:r>
            <a:r>
              <a:rPr i="1" lang="en" sz="1200">
                <a:solidFill>
                  <a:srgbClr val="000000"/>
                </a:solidFill>
                <a:latin typeface="Arial"/>
                <a:ea typeface="Arial"/>
                <a:cs typeface="Arial"/>
                <a:sym typeface="Arial"/>
              </a:rPr>
              <a:t>tend to have longer trips on average</a:t>
            </a:r>
            <a:endParaRPr b="1" i="1" sz="1200">
              <a:solidFill>
                <a:srgbClr val="000000"/>
              </a:solidFill>
              <a:latin typeface="Arial"/>
              <a:ea typeface="Arial"/>
              <a:cs typeface="Arial"/>
              <a:sym typeface="Arial"/>
            </a:endParaRPr>
          </a:p>
          <a:p>
            <a:pPr indent="0" lvl="0" marL="457200" rtl="0" algn="l">
              <a:spcBef>
                <a:spcPts val="0"/>
              </a:spcBef>
              <a:spcAft>
                <a:spcPts val="0"/>
              </a:spcAft>
              <a:buNone/>
            </a:pPr>
            <a:r>
              <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i="1" lang="en" sz="1200">
                <a:solidFill>
                  <a:srgbClr val="000000"/>
                </a:solidFill>
                <a:latin typeface="Arial"/>
                <a:ea typeface="Arial"/>
                <a:cs typeface="Arial"/>
                <a:sym typeface="Arial"/>
              </a:rPr>
              <a:t>This strengthens our previous intuition that</a:t>
            </a:r>
            <a:r>
              <a:rPr lang="en" sz="1200">
                <a:solidFill>
                  <a:srgbClr val="000000"/>
                </a:solidFill>
                <a:latin typeface="Arial"/>
                <a:ea typeface="Arial"/>
                <a:cs typeface="Arial"/>
                <a:sym typeface="Arial"/>
              </a:rPr>
              <a:t> </a:t>
            </a:r>
            <a:r>
              <a:rPr lang="en" sz="1200" u="sng">
                <a:solidFill>
                  <a:srgbClr val="000000"/>
                </a:solidFill>
                <a:latin typeface="Arial"/>
                <a:ea typeface="Arial"/>
                <a:cs typeface="Arial"/>
                <a:sym typeface="Arial"/>
              </a:rPr>
              <a:t>annual members</a:t>
            </a:r>
            <a:r>
              <a:rPr lang="en" sz="1200">
                <a:solidFill>
                  <a:srgbClr val="000000"/>
                </a:solidFill>
                <a:latin typeface="Arial"/>
                <a:ea typeface="Arial"/>
                <a:cs typeface="Arial"/>
                <a:sym typeface="Arial"/>
              </a:rPr>
              <a:t> </a:t>
            </a:r>
            <a:r>
              <a:rPr i="1" lang="en" sz="1200">
                <a:solidFill>
                  <a:srgbClr val="000000"/>
                </a:solidFill>
                <a:latin typeface="Arial"/>
                <a:ea typeface="Arial"/>
                <a:cs typeface="Arial"/>
                <a:sym typeface="Arial"/>
              </a:rPr>
              <a:t>could be using</a:t>
            </a:r>
            <a:r>
              <a:rPr i="1" lang="en" sz="1200">
                <a:solidFill>
                  <a:srgbClr val="000000"/>
                </a:solidFill>
                <a:latin typeface="Arial"/>
                <a:ea typeface="Arial"/>
                <a:cs typeface="Arial"/>
                <a:sym typeface="Arial"/>
              </a:rPr>
              <a:t> our bikes for</a:t>
            </a:r>
            <a:r>
              <a:rPr lang="en" sz="1200">
                <a:solidFill>
                  <a:srgbClr val="000000"/>
                </a:solidFill>
                <a:latin typeface="Arial"/>
                <a:ea typeface="Arial"/>
                <a:cs typeface="Arial"/>
                <a:sym typeface="Arial"/>
              </a:rPr>
              <a:t> </a:t>
            </a:r>
            <a:r>
              <a:rPr b="1" lang="en" sz="1200">
                <a:solidFill>
                  <a:srgbClr val="000000"/>
                </a:solidFill>
                <a:latin typeface="Arial"/>
                <a:ea typeface="Arial"/>
                <a:cs typeface="Arial"/>
                <a:sym typeface="Arial"/>
              </a:rPr>
              <a:t>work related purposes</a:t>
            </a:r>
            <a:r>
              <a:rPr lang="en" sz="1200">
                <a:solidFill>
                  <a:srgbClr val="000000"/>
                </a:solidFill>
                <a:latin typeface="Arial"/>
                <a:ea typeface="Arial"/>
                <a:cs typeface="Arial"/>
                <a:sym typeface="Arial"/>
              </a:rPr>
              <a:t>, </a:t>
            </a:r>
            <a:r>
              <a:rPr i="1" lang="en" sz="1200">
                <a:solidFill>
                  <a:srgbClr val="000000"/>
                </a:solidFill>
                <a:latin typeface="Arial"/>
                <a:ea typeface="Arial"/>
                <a:cs typeface="Arial"/>
                <a:sym typeface="Arial"/>
              </a:rPr>
              <a:t>while</a:t>
            </a:r>
            <a:r>
              <a:rPr lang="en" sz="1200">
                <a:solidFill>
                  <a:srgbClr val="000000"/>
                </a:solidFill>
                <a:latin typeface="Arial"/>
                <a:ea typeface="Arial"/>
                <a:cs typeface="Arial"/>
                <a:sym typeface="Arial"/>
              </a:rPr>
              <a:t> </a:t>
            </a:r>
            <a:r>
              <a:rPr lang="en" sz="1200" u="sng">
                <a:solidFill>
                  <a:srgbClr val="000000"/>
                </a:solidFill>
                <a:latin typeface="Arial"/>
                <a:ea typeface="Arial"/>
                <a:cs typeface="Arial"/>
                <a:sym typeface="Arial"/>
              </a:rPr>
              <a:t>casual members</a:t>
            </a:r>
            <a:r>
              <a:rPr lang="en" sz="1200">
                <a:solidFill>
                  <a:srgbClr val="000000"/>
                </a:solidFill>
                <a:latin typeface="Arial"/>
                <a:ea typeface="Arial"/>
                <a:cs typeface="Arial"/>
                <a:sym typeface="Arial"/>
              </a:rPr>
              <a:t> </a:t>
            </a:r>
            <a:r>
              <a:rPr i="1" lang="en" sz="1200">
                <a:solidFill>
                  <a:srgbClr val="000000"/>
                </a:solidFill>
                <a:latin typeface="Arial"/>
                <a:ea typeface="Arial"/>
                <a:cs typeface="Arial"/>
                <a:sym typeface="Arial"/>
              </a:rPr>
              <a:t>could be using them for </a:t>
            </a:r>
            <a:r>
              <a:rPr b="1" lang="en" sz="1200">
                <a:solidFill>
                  <a:srgbClr val="000000"/>
                </a:solidFill>
                <a:latin typeface="Arial"/>
                <a:ea typeface="Arial"/>
                <a:cs typeface="Arial"/>
                <a:sym typeface="Arial"/>
              </a:rPr>
              <a:t>leisure &amp; sports</a:t>
            </a:r>
            <a:endParaRPr b="1" sz="1200">
              <a:solidFill>
                <a:srgbClr val="000000"/>
              </a:solidFill>
              <a:latin typeface="Arial"/>
              <a:ea typeface="Arial"/>
              <a:cs typeface="Arial"/>
              <a:sym typeface="Arial"/>
            </a:endParaRPr>
          </a:p>
          <a:p>
            <a:pPr indent="0" lvl="0" marL="45720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a:latin typeface="Roboto"/>
              <a:ea typeface="Roboto"/>
              <a:cs typeface="Roboto"/>
              <a:sym typeface="Roboto"/>
            </a:endParaRPr>
          </a:p>
        </p:txBody>
      </p:sp>
      <p:pic>
        <p:nvPicPr>
          <p:cNvPr id="193" name="Google Shape;193;p36"/>
          <p:cNvPicPr preferRelativeResize="0"/>
          <p:nvPr/>
        </p:nvPicPr>
        <p:blipFill>
          <a:blip r:embed="rId3">
            <a:alphaModFix/>
          </a:blip>
          <a:stretch>
            <a:fillRect/>
          </a:stretch>
        </p:blipFill>
        <p:spPr>
          <a:xfrm>
            <a:off x="4448225" y="1"/>
            <a:ext cx="4695774" cy="5143501"/>
          </a:xfrm>
          <a:prstGeom prst="rect">
            <a:avLst/>
          </a:prstGeom>
          <a:noFill/>
          <a:ln>
            <a:noFill/>
          </a:ln>
        </p:spPr>
      </p:pic>
      <p:cxnSp>
        <p:nvCxnSpPr>
          <p:cNvPr id="194" name="Google Shape;194;p36"/>
          <p:cNvCxnSpPr/>
          <p:nvPr/>
        </p:nvCxnSpPr>
        <p:spPr>
          <a:xfrm>
            <a:off x="276625" y="1595550"/>
            <a:ext cx="3977100" cy="7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7"/>
          <p:cNvSpPr txBox="1"/>
          <p:nvPr>
            <p:ph type="title"/>
          </p:nvPr>
        </p:nvSpPr>
        <p:spPr>
          <a:xfrm>
            <a:off x="265500" y="129275"/>
            <a:ext cx="4045200" cy="126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400">
                <a:latin typeface="Roboto"/>
                <a:ea typeface="Roboto"/>
                <a:cs typeface="Roboto"/>
                <a:sym typeface="Roboto"/>
              </a:rPr>
              <a:t>Top 10 Busiest Stations for Annual Members</a:t>
            </a:r>
            <a:endParaRPr i="1" sz="2400">
              <a:latin typeface="Roboto"/>
              <a:ea typeface="Roboto"/>
              <a:cs typeface="Roboto"/>
              <a:sym typeface="Roboto"/>
            </a:endParaRPr>
          </a:p>
          <a:p>
            <a:pPr indent="0" lvl="0" marL="0" rtl="0" algn="l">
              <a:spcBef>
                <a:spcPts val="0"/>
              </a:spcBef>
              <a:spcAft>
                <a:spcPts val="0"/>
              </a:spcAft>
              <a:buNone/>
            </a:pPr>
            <a:r>
              <a:rPr i="1" lang="en" sz="2400">
                <a:latin typeface="Roboto"/>
                <a:ea typeface="Roboto"/>
                <a:cs typeface="Roboto"/>
                <a:sym typeface="Roboto"/>
              </a:rPr>
              <a:t>Viz</a:t>
            </a:r>
            <a:endParaRPr i="1" sz="2400">
              <a:latin typeface="Roboto"/>
              <a:ea typeface="Roboto"/>
              <a:cs typeface="Roboto"/>
              <a:sym typeface="Roboto"/>
            </a:endParaRPr>
          </a:p>
        </p:txBody>
      </p:sp>
      <p:pic>
        <p:nvPicPr>
          <p:cNvPr id="200" name="Google Shape;200;p37"/>
          <p:cNvPicPr preferRelativeResize="0"/>
          <p:nvPr/>
        </p:nvPicPr>
        <p:blipFill>
          <a:blip r:embed="rId3">
            <a:alphaModFix/>
          </a:blip>
          <a:stretch>
            <a:fillRect/>
          </a:stretch>
        </p:blipFill>
        <p:spPr>
          <a:xfrm>
            <a:off x="4366000" y="0"/>
            <a:ext cx="4777999" cy="5143501"/>
          </a:xfrm>
          <a:prstGeom prst="rect">
            <a:avLst/>
          </a:prstGeom>
          <a:noFill/>
          <a:ln>
            <a:noFill/>
          </a:ln>
        </p:spPr>
      </p:pic>
      <p:cxnSp>
        <p:nvCxnSpPr>
          <p:cNvPr id="201" name="Google Shape;201;p37"/>
          <p:cNvCxnSpPr/>
          <p:nvPr/>
        </p:nvCxnSpPr>
        <p:spPr>
          <a:xfrm>
            <a:off x="276625" y="1595550"/>
            <a:ext cx="3977100" cy="7500"/>
          </a:xfrm>
          <a:prstGeom prst="straightConnector1">
            <a:avLst/>
          </a:prstGeom>
          <a:noFill/>
          <a:ln cap="flat" cmpd="sng" w="9525">
            <a:solidFill>
              <a:schemeClr val="dk2"/>
            </a:solidFill>
            <a:prstDash val="solid"/>
            <a:round/>
            <a:headEnd len="med" w="med" type="none"/>
            <a:tailEnd len="med" w="med" type="none"/>
          </a:ln>
        </p:spPr>
      </p:cxnSp>
      <p:sp>
        <p:nvSpPr>
          <p:cNvPr id="202" name="Google Shape;202;p37"/>
          <p:cNvSpPr txBox="1"/>
          <p:nvPr>
            <p:ph idx="1" type="subTitle"/>
          </p:nvPr>
        </p:nvSpPr>
        <p:spPr>
          <a:xfrm>
            <a:off x="265500" y="2024550"/>
            <a:ext cx="4045200" cy="235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00000"/>
                </a:solidFill>
                <a:latin typeface="Arial"/>
                <a:ea typeface="Arial"/>
                <a:cs typeface="Arial"/>
                <a:sym typeface="Arial"/>
              </a:rPr>
              <a:t>Shared Findings:</a:t>
            </a:r>
            <a:endParaRPr b="1" sz="1600">
              <a:solidFill>
                <a:srgbClr val="000000"/>
              </a:solidFill>
              <a:latin typeface="Arial"/>
              <a:ea typeface="Arial"/>
              <a:cs typeface="Arial"/>
              <a:sym typeface="Arial"/>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i="1" lang="en" sz="1200">
                <a:solidFill>
                  <a:srgbClr val="000000"/>
                </a:solidFill>
                <a:latin typeface="Arial"/>
                <a:ea typeface="Arial"/>
                <a:cs typeface="Arial"/>
                <a:sym typeface="Arial"/>
              </a:rPr>
              <a:t>Most of the stations are located in or near commercial districts, business hubs, or areas with high foot traffic (e.g., West Loop, River North, Chicago Loop).</a:t>
            </a:r>
            <a:endParaRPr b="1" i="1" sz="1200">
              <a:solidFill>
                <a:srgbClr val="000000"/>
              </a:solidFill>
              <a:latin typeface="Arial"/>
              <a:ea typeface="Arial"/>
              <a:cs typeface="Arial"/>
              <a:sym typeface="Arial"/>
            </a:endParaRPr>
          </a:p>
          <a:p>
            <a:pPr indent="0" lvl="0" marL="457200" rtl="0" algn="l">
              <a:spcBef>
                <a:spcPts val="0"/>
              </a:spcBef>
              <a:spcAft>
                <a:spcPts val="0"/>
              </a:spcAft>
              <a:buNone/>
            </a:pPr>
            <a:r>
              <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i="1" lang="en" sz="1200">
                <a:solidFill>
                  <a:srgbClr val="000000"/>
                </a:solidFill>
                <a:latin typeface="Arial"/>
                <a:ea typeface="Arial"/>
                <a:cs typeface="Arial"/>
                <a:sym typeface="Arial"/>
              </a:rPr>
              <a:t>This suggests that annual members (likely commuters) frequently use these stations to travel to and from work or other business-related activities.</a:t>
            </a:r>
            <a:endParaRPr>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8"/>
          <p:cNvSpPr txBox="1"/>
          <p:nvPr>
            <p:ph type="title"/>
          </p:nvPr>
        </p:nvSpPr>
        <p:spPr>
          <a:xfrm>
            <a:off x="265500" y="129275"/>
            <a:ext cx="4045200" cy="126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400">
                <a:latin typeface="Roboto"/>
                <a:ea typeface="Roboto"/>
                <a:cs typeface="Roboto"/>
                <a:sym typeface="Roboto"/>
              </a:rPr>
              <a:t>Top 10 Busiest Stations for Casual Members</a:t>
            </a:r>
            <a:endParaRPr i="1" sz="2400">
              <a:latin typeface="Roboto"/>
              <a:ea typeface="Roboto"/>
              <a:cs typeface="Roboto"/>
              <a:sym typeface="Roboto"/>
            </a:endParaRPr>
          </a:p>
          <a:p>
            <a:pPr indent="0" lvl="0" marL="0" rtl="0" algn="l">
              <a:spcBef>
                <a:spcPts val="0"/>
              </a:spcBef>
              <a:spcAft>
                <a:spcPts val="0"/>
              </a:spcAft>
              <a:buNone/>
            </a:pPr>
            <a:r>
              <a:rPr i="1" lang="en" sz="2400">
                <a:latin typeface="Roboto"/>
                <a:ea typeface="Roboto"/>
                <a:cs typeface="Roboto"/>
                <a:sym typeface="Roboto"/>
              </a:rPr>
              <a:t>Viz</a:t>
            </a:r>
            <a:endParaRPr i="1" sz="2400">
              <a:latin typeface="Roboto"/>
              <a:ea typeface="Roboto"/>
              <a:cs typeface="Roboto"/>
              <a:sym typeface="Roboto"/>
            </a:endParaRPr>
          </a:p>
        </p:txBody>
      </p:sp>
      <p:pic>
        <p:nvPicPr>
          <p:cNvPr id="208" name="Google Shape;208;p38"/>
          <p:cNvPicPr preferRelativeResize="0"/>
          <p:nvPr/>
        </p:nvPicPr>
        <p:blipFill>
          <a:blip r:embed="rId3">
            <a:alphaModFix/>
          </a:blip>
          <a:stretch>
            <a:fillRect/>
          </a:stretch>
        </p:blipFill>
        <p:spPr>
          <a:xfrm>
            <a:off x="4366000" y="0"/>
            <a:ext cx="4777999" cy="5143501"/>
          </a:xfrm>
          <a:prstGeom prst="rect">
            <a:avLst/>
          </a:prstGeom>
          <a:noFill/>
          <a:ln>
            <a:noFill/>
          </a:ln>
        </p:spPr>
      </p:pic>
      <p:cxnSp>
        <p:nvCxnSpPr>
          <p:cNvPr id="209" name="Google Shape;209;p38"/>
          <p:cNvCxnSpPr/>
          <p:nvPr/>
        </p:nvCxnSpPr>
        <p:spPr>
          <a:xfrm>
            <a:off x="276625" y="1595550"/>
            <a:ext cx="3977100" cy="7500"/>
          </a:xfrm>
          <a:prstGeom prst="straightConnector1">
            <a:avLst/>
          </a:prstGeom>
          <a:noFill/>
          <a:ln cap="flat" cmpd="sng" w="9525">
            <a:solidFill>
              <a:schemeClr val="dk2"/>
            </a:solidFill>
            <a:prstDash val="solid"/>
            <a:round/>
            <a:headEnd len="med" w="med" type="none"/>
            <a:tailEnd len="med" w="med" type="none"/>
          </a:ln>
        </p:spPr>
      </p:cxnSp>
      <p:sp>
        <p:nvSpPr>
          <p:cNvPr id="210" name="Google Shape;210;p38"/>
          <p:cNvSpPr txBox="1"/>
          <p:nvPr>
            <p:ph idx="1" type="subTitle"/>
          </p:nvPr>
        </p:nvSpPr>
        <p:spPr>
          <a:xfrm>
            <a:off x="265500" y="2024550"/>
            <a:ext cx="4045200" cy="296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00000"/>
                </a:solidFill>
                <a:latin typeface="Arial"/>
                <a:ea typeface="Arial"/>
                <a:cs typeface="Arial"/>
                <a:sym typeface="Arial"/>
              </a:rPr>
              <a:t>Shared Findings:</a:t>
            </a:r>
            <a:endParaRPr b="1" sz="1600">
              <a:solidFill>
                <a:srgbClr val="000000"/>
              </a:solidFill>
              <a:latin typeface="Arial"/>
              <a:ea typeface="Arial"/>
              <a:cs typeface="Arial"/>
              <a:sym typeface="Arial"/>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i="1" lang="en" sz="1200">
                <a:solidFill>
                  <a:srgbClr val="000000"/>
                </a:solidFill>
                <a:latin typeface="Arial"/>
                <a:ea typeface="Arial"/>
                <a:cs typeface="Arial"/>
                <a:sym typeface="Arial"/>
              </a:rPr>
              <a:t>The majority of these stations are located near tourist attractions, parks, and recreational areas, indicating that casual members are likely using the bike-sharing service for sightseeing and leisure activities.</a:t>
            </a:r>
            <a:endParaRPr i="1" sz="1200">
              <a:solidFill>
                <a:srgbClr val="000000"/>
              </a:solidFill>
              <a:latin typeface="Arial"/>
              <a:ea typeface="Arial"/>
              <a:cs typeface="Arial"/>
              <a:sym typeface="Arial"/>
            </a:endParaRPr>
          </a:p>
          <a:p>
            <a:pPr indent="0" lvl="0" marL="0" rtl="0" algn="l">
              <a:spcBef>
                <a:spcPts val="0"/>
              </a:spcBef>
              <a:spcAft>
                <a:spcPts val="0"/>
              </a:spcAft>
              <a:buNone/>
            </a:pPr>
            <a:r>
              <a:t/>
            </a:r>
            <a:endParaRPr b="1" i="1"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b="1" i="1" lang="en" sz="1200">
                <a:solidFill>
                  <a:srgbClr val="000000"/>
                </a:solidFill>
                <a:latin typeface="Arial"/>
                <a:ea typeface="Arial"/>
                <a:cs typeface="Arial"/>
                <a:sym typeface="Arial"/>
              </a:rPr>
              <a:t>Shared Stations </a:t>
            </a:r>
            <a:r>
              <a:rPr i="1" lang="en" sz="1200">
                <a:solidFill>
                  <a:srgbClr val="000000"/>
                </a:solidFill>
                <a:latin typeface="Arial"/>
                <a:ea typeface="Arial"/>
                <a:cs typeface="Arial"/>
                <a:sym typeface="Arial"/>
              </a:rPr>
              <a:t>such as</a:t>
            </a:r>
            <a:r>
              <a:rPr b="1" i="1" lang="en" sz="1200">
                <a:solidFill>
                  <a:srgbClr val="000000"/>
                </a:solidFill>
                <a:latin typeface="Arial"/>
                <a:ea typeface="Arial"/>
                <a:cs typeface="Arial"/>
                <a:sym typeface="Arial"/>
              </a:rPr>
              <a:t> Wells St &amp; Concord Ln</a:t>
            </a:r>
            <a:r>
              <a:rPr lang="en" sz="1100">
                <a:solidFill>
                  <a:srgbClr val="000000"/>
                </a:solidFill>
                <a:latin typeface="Arial"/>
                <a:ea typeface="Arial"/>
                <a:cs typeface="Arial"/>
                <a:sym typeface="Arial"/>
              </a:rPr>
              <a:t> </a:t>
            </a:r>
            <a:r>
              <a:rPr i="1" lang="en" sz="1200">
                <a:solidFill>
                  <a:srgbClr val="000000"/>
                </a:solidFill>
                <a:latin typeface="Arial"/>
                <a:ea typeface="Arial"/>
                <a:cs typeface="Arial"/>
                <a:sym typeface="Arial"/>
              </a:rPr>
              <a:t>can be used to focus marketing strategies while using a system of rewards to display the benefits of annual memberships, we can also hold events are these stations where annual members &amp; casual members could meet up and exchange their thoughts.</a:t>
            </a:r>
            <a:endParaRPr i="1" sz="120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9"/>
          <p:cNvSpPr txBox="1"/>
          <p:nvPr>
            <p:ph idx="4294967295" type="title"/>
          </p:nvPr>
        </p:nvSpPr>
        <p:spPr>
          <a:xfrm>
            <a:off x="311700" y="198325"/>
            <a:ext cx="4084500" cy="100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Aha! </a:t>
            </a:r>
            <a:br>
              <a:rPr lang="en" sz="2400"/>
            </a:br>
            <a:r>
              <a:rPr lang="en" sz="3800"/>
              <a:t>My Discoveries</a:t>
            </a:r>
            <a:endParaRPr sz="3800"/>
          </a:p>
        </p:txBody>
      </p:sp>
      <p:sp>
        <p:nvSpPr>
          <p:cNvPr id="216" name="Google Shape;216;p39"/>
          <p:cNvSpPr txBox="1"/>
          <p:nvPr>
            <p:ph idx="4294967295" type="body"/>
          </p:nvPr>
        </p:nvSpPr>
        <p:spPr>
          <a:xfrm>
            <a:off x="311700" y="1614825"/>
            <a:ext cx="4084500" cy="3045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sz="1300">
              <a:solidFill>
                <a:srgbClr val="000000"/>
              </a:solidFill>
              <a:latin typeface="Arial"/>
              <a:ea typeface="Arial"/>
              <a:cs typeface="Arial"/>
              <a:sym typeface="Arial"/>
            </a:endParaRPr>
          </a:p>
          <a:p>
            <a:pPr indent="-311150" lvl="0" marL="457200" rtl="0" algn="l">
              <a:lnSpc>
                <a:spcPct val="100000"/>
              </a:lnSpc>
              <a:spcBef>
                <a:spcPts val="0"/>
              </a:spcBef>
              <a:spcAft>
                <a:spcPts val="0"/>
              </a:spcAft>
              <a:buClr>
                <a:srgbClr val="000000"/>
              </a:buClr>
              <a:buSzPts val="1300"/>
              <a:buFont typeface="Arial"/>
              <a:buAutoNum type="arabicPeriod"/>
            </a:pPr>
            <a:r>
              <a:rPr i="1" lang="en" sz="1300">
                <a:solidFill>
                  <a:srgbClr val="000000"/>
                </a:solidFill>
                <a:latin typeface="Arial"/>
                <a:ea typeface="Arial"/>
                <a:cs typeface="Arial"/>
                <a:sym typeface="Arial"/>
              </a:rPr>
              <a:t>Over </a:t>
            </a:r>
            <a:r>
              <a:rPr b="1" i="1" lang="en" sz="1300" u="sng">
                <a:solidFill>
                  <a:srgbClr val="000000"/>
                </a:solidFill>
                <a:latin typeface="Arial"/>
                <a:ea typeface="Arial"/>
                <a:cs typeface="Arial"/>
                <a:sym typeface="Arial"/>
              </a:rPr>
              <a:t>90%</a:t>
            </a:r>
            <a:r>
              <a:rPr i="1" lang="en" sz="1300">
                <a:solidFill>
                  <a:srgbClr val="000000"/>
                </a:solidFill>
                <a:latin typeface="Arial"/>
                <a:ea typeface="Arial"/>
                <a:cs typeface="Arial"/>
                <a:sym typeface="Arial"/>
              </a:rPr>
              <a:t> of trips have a duration </a:t>
            </a:r>
            <a:r>
              <a:rPr b="1" i="1" lang="en" sz="1300">
                <a:solidFill>
                  <a:srgbClr val="000000"/>
                </a:solidFill>
                <a:latin typeface="Arial"/>
                <a:ea typeface="Arial"/>
                <a:cs typeface="Arial"/>
                <a:sym typeface="Arial"/>
              </a:rPr>
              <a:t>less than 30</a:t>
            </a:r>
            <a:r>
              <a:rPr i="1" lang="en" sz="1300">
                <a:solidFill>
                  <a:srgbClr val="000000"/>
                </a:solidFill>
                <a:latin typeface="Arial"/>
                <a:ea typeface="Arial"/>
                <a:cs typeface="Arial"/>
                <a:sym typeface="Arial"/>
              </a:rPr>
              <a:t> minutes.</a:t>
            </a:r>
            <a:endParaRPr i="1" sz="1300">
              <a:solidFill>
                <a:srgbClr val="000000"/>
              </a:solidFill>
              <a:latin typeface="Arial"/>
              <a:ea typeface="Arial"/>
              <a:cs typeface="Arial"/>
              <a:sym typeface="Arial"/>
            </a:endParaRPr>
          </a:p>
          <a:p>
            <a:pPr indent="0" lvl="0" marL="914400" rtl="0" algn="l">
              <a:lnSpc>
                <a:spcPct val="100000"/>
              </a:lnSpc>
              <a:spcBef>
                <a:spcPts val="0"/>
              </a:spcBef>
              <a:spcAft>
                <a:spcPts val="0"/>
              </a:spcAft>
              <a:buNone/>
            </a:pPr>
            <a:r>
              <a:t/>
            </a:r>
            <a:endParaRPr i="1" sz="1300">
              <a:solidFill>
                <a:srgbClr val="000000"/>
              </a:solidFill>
              <a:latin typeface="Arial"/>
              <a:ea typeface="Arial"/>
              <a:cs typeface="Arial"/>
              <a:sym typeface="Arial"/>
            </a:endParaRPr>
          </a:p>
          <a:p>
            <a:pPr indent="0" lvl="0" marL="914400" rtl="0" algn="l">
              <a:lnSpc>
                <a:spcPct val="100000"/>
              </a:lnSpc>
              <a:spcBef>
                <a:spcPts val="0"/>
              </a:spcBef>
              <a:spcAft>
                <a:spcPts val="0"/>
              </a:spcAft>
              <a:buNone/>
            </a:pPr>
            <a:r>
              <a:t/>
            </a:r>
            <a:endParaRPr i="1" sz="1300">
              <a:solidFill>
                <a:srgbClr val="000000"/>
              </a:solidFill>
              <a:latin typeface="Arial"/>
              <a:ea typeface="Arial"/>
              <a:cs typeface="Arial"/>
              <a:sym typeface="Arial"/>
            </a:endParaRPr>
          </a:p>
          <a:p>
            <a:pPr indent="-311150" lvl="0" marL="457200" rtl="0" algn="l">
              <a:lnSpc>
                <a:spcPct val="100000"/>
              </a:lnSpc>
              <a:spcBef>
                <a:spcPts val="0"/>
              </a:spcBef>
              <a:spcAft>
                <a:spcPts val="0"/>
              </a:spcAft>
              <a:buClr>
                <a:srgbClr val="000000"/>
              </a:buClr>
              <a:buSzPts val="1300"/>
              <a:buFont typeface="Arial"/>
              <a:buAutoNum type="arabicPeriod"/>
            </a:pPr>
            <a:r>
              <a:rPr i="1" lang="en" sz="1300">
                <a:solidFill>
                  <a:srgbClr val="000000"/>
                </a:solidFill>
                <a:latin typeface="Arial"/>
                <a:ea typeface="Arial"/>
                <a:cs typeface="Arial"/>
                <a:sym typeface="Arial"/>
              </a:rPr>
              <a:t>Trips reach a </a:t>
            </a:r>
            <a:r>
              <a:rPr b="1" i="1" lang="en" sz="1300">
                <a:solidFill>
                  <a:srgbClr val="000000"/>
                </a:solidFill>
                <a:latin typeface="Arial"/>
                <a:ea typeface="Arial"/>
                <a:cs typeface="Arial"/>
                <a:sym typeface="Arial"/>
              </a:rPr>
              <a:t>peak</a:t>
            </a:r>
            <a:r>
              <a:rPr i="1" lang="en" sz="1300">
                <a:solidFill>
                  <a:srgbClr val="000000"/>
                </a:solidFill>
                <a:latin typeface="Arial"/>
                <a:ea typeface="Arial"/>
                <a:cs typeface="Arial"/>
                <a:sym typeface="Arial"/>
              </a:rPr>
              <a:t> at </a:t>
            </a:r>
            <a:r>
              <a:rPr b="1" i="1" lang="en" sz="1300">
                <a:solidFill>
                  <a:srgbClr val="000000"/>
                </a:solidFill>
                <a:latin typeface="Arial"/>
                <a:ea typeface="Arial"/>
                <a:cs typeface="Arial"/>
                <a:sym typeface="Arial"/>
              </a:rPr>
              <a:t>late morning/midday hours</a:t>
            </a:r>
            <a:r>
              <a:rPr i="1" lang="en" sz="1300">
                <a:solidFill>
                  <a:srgbClr val="000000"/>
                </a:solidFill>
                <a:latin typeface="Arial"/>
                <a:ea typeface="Arial"/>
                <a:cs typeface="Arial"/>
                <a:sym typeface="Arial"/>
              </a:rPr>
              <a:t>.</a:t>
            </a:r>
            <a:endParaRPr i="1" sz="1300">
              <a:solidFill>
                <a:srgbClr val="000000"/>
              </a:solidFill>
              <a:latin typeface="Arial"/>
              <a:ea typeface="Arial"/>
              <a:cs typeface="Arial"/>
              <a:sym typeface="Arial"/>
            </a:endParaRPr>
          </a:p>
          <a:p>
            <a:pPr indent="0" lvl="0" marL="914400" rtl="0" algn="l">
              <a:lnSpc>
                <a:spcPct val="100000"/>
              </a:lnSpc>
              <a:spcBef>
                <a:spcPts val="0"/>
              </a:spcBef>
              <a:spcAft>
                <a:spcPts val="0"/>
              </a:spcAft>
              <a:buNone/>
            </a:pPr>
            <a:r>
              <a:t/>
            </a:r>
            <a:endParaRPr i="1" sz="1300">
              <a:solidFill>
                <a:srgbClr val="000000"/>
              </a:solidFill>
              <a:latin typeface="Arial"/>
              <a:ea typeface="Arial"/>
              <a:cs typeface="Arial"/>
              <a:sym typeface="Arial"/>
            </a:endParaRPr>
          </a:p>
          <a:p>
            <a:pPr indent="0" lvl="0" marL="914400" rtl="0" algn="l">
              <a:lnSpc>
                <a:spcPct val="100000"/>
              </a:lnSpc>
              <a:spcBef>
                <a:spcPts val="0"/>
              </a:spcBef>
              <a:spcAft>
                <a:spcPts val="0"/>
              </a:spcAft>
              <a:buNone/>
            </a:pPr>
            <a:r>
              <a:t/>
            </a:r>
            <a:endParaRPr i="1" sz="1300">
              <a:solidFill>
                <a:srgbClr val="000000"/>
              </a:solidFill>
              <a:latin typeface="Arial"/>
              <a:ea typeface="Arial"/>
              <a:cs typeface="Arial"/>
              <a:sym typeface="Arial"/>
            </a:endParaRPr>
          </a:p>
          <a:p>
            <a:pPr indent="-311150" lvl="0" marL="457200" rtl="0" algn="l">
              <a:lnSpc>
                <a:spcPct val="100000"/>
              </a:lnSpc>
              <a:spcBef>
                <a:spcPts val="0"/>
              </a:spcBef>
              <a:spcAft>
                <a:spcPts val="0"/>
              </a:spcAft>
              <a:buClr>
                <a:srgbClr val="000000"/>
              </a:buClr>
              <a:buSzPts val="1300"/>
              <a:buFont typeface="Arial"/>
              <a:buAutoNum type="arabicPeriod"/>
            </a:pPr>
            <a:r>
              <a:rPr b="1" i="1" lang="en" sz="1300">
                <a:solidFill>
                  <a:srgbClr val="000000"/>
                </a:solidFill>
                <a:latin typeface="Arial"/>
                <a:ea typeface="Arial"/>
                <a:cs typeface="Arial"/>
                <a:sym typeface="Arial"/>
              </a:rPr>
              <a:t>Annual members</a:t>
            </a:r>
            <a:r>
              <a:rPr i="1" lang="en" sz="1300">
                <a:solidFill>
                  <a:srgbClr val="000000"/>
                </a:solidFill>
                <a:latin typeface="Arial"/>
                <a:ea typeface="Arial"/>
                <a:cs typeface="Arial"/>
                <a:sym typeface="Arial"/>
              </a:rPr>
              <a:t> use our bikes for </a:t>
            </a:r>
            <a:r>
              <a:rPr b="1" i="1" lang="en" sz="1300">
                <a:solidFill>
                  <a:srgbClr val="000000"/>
                </a:solidFill>
                <a:latin typeface="Arial"/>
                <a:ea typeface="Arial"/>
                <a:cs typeface="Arial"/>
                <a:sym typeface="Arial"/>
              </a:rPr>
              <a:t>work related purposes</a:t>
            </a:r>
            <a:r>
              <a:rPr i="1" lang="en" sz="1300">
                <a:solidFill>
                  <a:srgbClr val="000000"/>
                </a:solidFill>
                <a:latin typeface="Arial"/>
                <a:ea typeface="Arial"/>
                <a:cs typeface="Arial"/>
                <a:sym typeface="Arial"/>
              </a:rPr>
              <a:t>, while </a:t>
            </a:r>
            <a:r>
              <a:rPr b="1" i="1" lang="en" sz="1300">
                <a:solidFill>
                  <a:srgbClr val="000000"/>
                </a:solidFill>
                <a:latin typeface="Arial"/>
                <a:ea typeface="Arial"/>
                <a:cs typeface="Arial"/>
                <a:sym typeface="Arial"/>
              </a:rPr>
              <a:t>casual members</a:t>
            </a:r>
            <a:r>
              <a:rPr i="1" lang="en" sz="1300">
                <a:solidFill>
                  <a:srgbClr val="000000"/>
                </a:solidFill>
                <a:latin typeface="Arial"/>
                <a:ea typeface="Arial"/>
                <a:cs typeface="Arial"/>
                <a:sym typeface="Arial"/>
              </a:rPr>
              <a:t> use them for </a:t>
            </a:r>
            <a:r>
              <a:rPr b="1" i="1" lang="en" sz="1300">
                <a:solidFill>
                  <a:srgbClr val="000000"/>
                </a:solidFill>
                <a:latin typeface="Arial"/>
                <a:ea typeface="Arial"/>
                <a:cs typeface="Arial"/>
                <a:sym typeface="Arial"/>
              </a:rPr>
              <a:t>leisure</a:t>
            </a:r>
            <a:r>
              <a:rPr i="1" lang="en" sz="1300">
                <a:solidFill>
                  <a:srgbClr val="000000"/>
                </a:solidFill>
                <a:latin typeface="Arial"/>
                <a:ea typeface="Arial"/>
                <a:cs typeface="Arial"/>
                <a:sym typeface="Arial"/>
              </a:rPr>
              <a:t>.</a:t>
            </a:r>
            <a:endParaRPr i="1" sz="1300">
              <a:solidFill>
                <a:srgbClr val="000000"/>
              </a:solidFill>
              <a:latin typeface="Arial"/>
              <a:ea typeface="Arial"/>
              <a:cs typeface="Arial"/>
              <a:sym typeface="Arial"/>
            </a:endParaRPr>
          </a:p>
          <a:p>
            <a:pPr indent="0" lvl="0" marL="914400" rtl="0" algn="l">
              <a:lnSpc>
                <a:spcPct val="100000"/>
              </a:lnSpc>
              <a:spcBef>
                <a:spcPts val="0"/>
              </a:spcBef>
              <a:spcAft>
                <a:spcPts val="0"/>
              </a:spcAft>
              <a:buNone/>
            </a:pPr>
            <a:r>
              <a:t/>
            </a:r>
            <a:endParaRPr i="1" sz="1200">
              <a:solidFill>
                <a:srgbClr val="000000"/>
              </a:solidFill>
              <a:latin typeface="Arial"/>
              <a:ea typeface="Arial"/>
              <a:cs typeface="Arial"/>
              <a:sym typeface="Arial"/>
            </a:endParaRPr>
          </a:p>
          <a:p>
            <a:pPr indent="0" lvl="0" marL="457200" rtl="0" algn="l">
              <a:spcBef>
                <a:spcPts val="0"/>
              </a:spcBef>
              <a:spcAft>
                <a:spcPts val="1600"/>
              </a:spcAft>
              <a:buNone/>
            </a:pPr>
            <a:r>
              <a:t/>
            </a:r>
            <a:endParaRPr/>
          </a:p>
        </p:txBody>
      </p:sp>
      <p:cxnSp>
        <p:nvCxnSpPr>
          <p:cNvPr id="217" name="Google Shape;217;p39"/>
          <p:cNvCxnSpPr/>
          <p:nvPr/>
        </p:nvCxnSpPr>
        <p:spPr>
          <a:xfrm>
            <a:off x="311700" y="1446025"/>
            <a:ext cx="3977100" cy="7500"/>
          </a:xfrm>
          <a:prstGeom prst="straightConnector1">
            <a:avLst/>
          </a:prstGeom>
          <a:noFill/>
          <a:ln cap="flat" cmpd="sng" w="9525">
            <a:solidFill>
              <a:srgbClr val="674EA7"/>
            </a:solidFill>
            <a:prstDash val="solid"/>
            <a:round/>
            <a:headEnd len="med" w="med" type="none"/>
            <a:tailEnd len="med" w="med" type="none"/>
          </a:ln>
        </p:spPr>
      </p:cxnSp>
      <p:pic>
        <p:nvPicPr>
          <p:cNvPr id="218" name="Google Shape;218;p39"/>
          <p:cNvPicPr preferRelativeResize="0"/>
          <p:nvPr/>
        </p:nvPicPr>
        <p:blipFill>
          <a:blip r:embed="rId3">
            <a:alphaModFix/>
          </a:blip>
          <a:stretch>
            <a:fillRect/>
          </a:stretch>
        </p:blipFill>
        <p:spPr>
          <a:xfrm>
            <a:off x="7015300" y="422450"/>
            <a:ext cx="2061626" cy="1955425"/>
          </a:xfrm>
          <a:prstGeom prst="rect">
            <a:avLst/>
          </a:prstGeom>
          <a:noFill/>
          <a:ln>
            <a:noFill/>
          </a:ln>
        </p:spPr>
      </p:pic>
      <p:pic>
        <p:nvPicPr>
          <p:cNvPr id="219" name="Google Shape;219;p39"/>
          <p:cNvPicPr preferRelativeResize="0"/>
          <p:nvPr/>
        </p:nvPicPr>
        <p:blipFill>
          <a:blip r:embed="rId4">
            <a:alphaModFix/>
          </a:blip>
          <a:stretch>
            <a:fillRect/>
          </a:stretch>
        </p:blipFill>
        <p:spPr>
          <a:xfrm>
            <a:off x="4705200" y="2377873"/>
            <a:ext cx="4438800" cy="2760927"/>
          </a:xfrm>
          <a:prstGeom prst="rect">
            <a:avLst/>
          </a:prstGeom>
          <a:noFill/>
          <a:ln>
            <a:noFill/>
          </a:ln>
        </p:spPr>
      </p:pic>
      <p:pic>
        <p:nvPicPr>
          <p:cNvPr id="220" name="Google Shape;220;p39"/>
          <p:cNvPicPr preferRelativeResize="0"/>
          <p:nvPr/>
        </p:nvPicPr>
        <p:blipFill>
          <a:blip r:embed="rId5">
            <a:alphaModFix/>
          </a:blip>
          <a:stretch>
            <a:fillRect/>
          </a:stretch>
        </p:blipFill>
        <p:spPr>
          <a:xfrm>
            <a:off x="4705188" y="304800"/>
            <a:ext cx="2073073" cy="207307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0"/>
          <p:cNvSpPr txBox="1"/>
          <p:nvPr>
            <p:ph idx="4294967295" type="title"/>
          </p:nvPr>
        </p:nvSpPr>
        <p:spPr>
          <a:xfrm>
            <a:off x="258000" y="153475"/>
            <a:ext cx="3255600" cy="49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u="sng"/>
              <a:t>Ask Questions/Answers</a:t>
            </a:r>
            <a:endParaRPr sz="4200" u="sng"/>
          </a:p>
        </p:txBody>
      </p:sp>
      <p:sp>
        <p:nvSpPr>
          <p:cNvPr id="226" name="Google Shape;226;p40"/>
          <p:cNvSpPr txBox="1"/>
          <p:nvPr>
            <p:ph idx="4294967295" type="body"/>
          </p:nvPr>
        </p:nvSpPr>
        <p:spPr>
          <a:xfrm>
            <a:off x="258000" y="814875"/>
            <a:ext cx="4314000" cy="4276200"/>
          </a:xfrm>
          <a:prstGeom prst="rect">
            <a:avLst/>
          </a:prstGeom>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Clr>
                <a:srgbClr val="000000"/>
              </a:buClr>
              <a:buSzPts val="1200"/>
              <a:buFont typeface="Arial"/>
              <a:buAutoNum type="arabicPeriod"/>
            </a:pPr>
            <a:r>
              <a:rPr i="1" lang="en" sz="1200">
                <a:solidFill>
                  <a:srgbClr val="000000"/>
                </a:solidFill>
                <a:latin typeface="Arial"/>
                <a:ea typeface="Arial"/>
                <a:cs typeface="Arial"/>
                <a:sym typeface="Arial"/>
              </a:rPr>
              <a:t>How do annual members and casual riders use Cyclistic bikes differently?</a:t>
            </a:r>
            <a:endParaRPr i="1" sz="12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i="1" sz="12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i="1" lang="en" sz="1200">
                <a:solidFill>
                  <a:srgbClr val="000000"/>
                </a:solidFill>
                <a:latin typeface="Arial"/>
                <a:ea typeface="Arial"/>
                <a:cs typeface="Arial"/>
                <a:sym typeface="Arial"/>
              </a:rPr>
              <a:t>Annual members use bikes for </a:t>
            </a:r>
            <a:r>
              <a:rPr b="1" i="1" lang="en" sz="1200">
                <a:solidFill>
                  <a:srgbClr val="000000"/>
                </a:solidFill>
                <a:latin typeface="Arial"/>
                <a:ea typeface="Arial"/>
                <a:cs typeface="Arial"/>
                <a:sym typeface="Arial"/>
              </a:rPr>
              <a:t>commuting</a:t>
            </a:r>
            <a:r>
              <a:rPr i="1" lang="en" sz="1200">
                <a:solidFill>
                  <a:srgbClr val="000000"/>
                </a:solidFill>
                <a:latin typeface="Arial"/>
                <a:ea typeface="Arial"/>
                <a:cs typeface="Arial"/>
                <a:sym typeface="Arial"/>
              </a:rPr>
              <a:t>, with </a:t>
            </a:r>
            <a:r>
              <a:rPr b="1" i="1" lang="en" sz="1200">
                <a:solidFill>
                  <a:srgbClr val="000000"/>
                </a:solidFill>
                <a:latin typeface="Arial"/>
                <a:ea typeface="Arial"/>
                <a:cs typeface="Arial"/>
                <a:sym typeface="Arial"/>
              </a:rPr>
              <a:t>short weekday</a:t>
            </a:r>
            <a:r>
              <a:rPr i="1" lang="en" sz="1200">
                <a:solidFill>
                  <a:srgbClr val="000000"/>
                </a:solidFill>
                <a:latin typeface="Arial"/>
                <a:ea typeface="Arial"/>
                <a:cs typeface="Arial"/>
                <a:sym typeface="Arial"/>
              </a:rPr>
              <a:t> trips </a:t>
            </a:r>
            <a:r>
              <a:rPr i="1" lang="en" sz="1200" u="sng">
                <a:solidFill>
                  <a:srgbClr val="000000"/>
                </a:solidFill>
                <a:latin typeface="Arial"/>
                <a:ea typeface="Arial"/>
                <a:cs typeface="Arial"/>
                <a:sym typeface="Arial"/>
              </a:rPr>
              <a:t>starting from business areas</a:t>
            </a:r>
            <a:r>
              <a:rPr i="1" lang="en" sz="1200">
                <a:solidFill>
                  <a:srgbClr val="000000"/>
                </a:solidFill>
                <a:latin typeface="Arial"/>
                <a:ea typeface="Arial"/>
                <a:cs typeface="Arial"/>
                <a:sym typeface="Arial"/>
              </a:rPr>
              <a:t>. Casual riders use them for </a:t>
            </a:r>
            <a:r>
              <a:rPr b="1" i="1" lang="en" sz="1200">
                <a:solidFill>
                  <a:srgbClr val="000000"/>
                </a:solidFill>
                <a:latin typeface="Arial"/>
                <a:ea typeface="Arial"/>
                <a:cs typeface="Arial"/>
                <a:sym typeface="Arial"/>
              </a:rPr>
              <a:t>leisure</a:t>
            </a:r>
            <a:r>
              <a:rPr i="1" lang="en" sz="1200">
                <a:solidFill>
                  <a:srgbClr val="000000"/>
                </a:solidFill>
                <a:latin typeface="Arial"/>
                <a:ea typeface="Arial"/>
                <a:cs typeface="Arial"/>
                <a:sym typeface="Arial"/>
              </a:rPr>
              <a:t>, with </a:t>
            </a:r>
            <a:r>
              <a:rPr b="1" i="1" lang="en" sz="1200">
                <a:solidFill>
                  <a:srgbClr val="000000"/>
                </a:solidFill>
                <a:latin typeface="Arial"/>
                <a:ea typeface="Arial"/>
                <a:cs typeface="Arial"/>
                <a:sym typeface="Arial"/>
              </a:rPr>
              <a:t>longer weekend</a:t>
            </a:r>
            <a:r>
              <a:rPr i="1" lang="en" sz="1200">
                <a:solidFill>
                  <a:srgbClr val="000000"/>
                </a:solidFill>
                <a:latin typeface="Arial"/>
                <a:ea typeface="Arial"/>
                <a:cs typeface="Arial"/>
                <a:sym typeface="Arial"/>
              </a:rPr>
              <a:t> trips </a:t>
            </a:r>
            <a:r>
              <a:rPr i="1" lang="en" sz="1200" u="sng">
                <a:solidFill>
                  <a:srgbClr val="000000"/>
                </a:solidFill>
                <a:latin typeface="Arial"/>
                <a:ea typeface="Arial"/>
                <a:cs typeface="Arial"/>
                <a:sym typeface="Arial"/>
              </a:rPr>
              <a:t>starting near tourist spots &amp; parks</a:t>
            </a:r>
            <a:r>
              <a:rPr i="1" lang="en" sz="1200">
                <a:solidFill>
                  <a:srgbClr val="000000"/>
                </a:solidFill>
                <a:latin typeface="Arial"/>
                <a:ea typeface="Arial"/>
                <a:cs typeface="Arial"/>
                <a:sym typeface="Arial"/>
              </a:rPr>
              <a:t>.</a:t>
            </a:r>
            <a:endParaRPr i="1" sz="1200">
              <a:solidFill>
                <a:srgbClr val="000000"/>
              </a:solidFill>
              <a:latin typeface="Arial"/>
              <a:ea typeface="Arial"/>
              <a:cs typeface="Arial"/>
              <a:sym typeface="Arial"/>
            </a:endParaRPr>
          </a:p>
          <a:p>
            <a:pPr indent="0" lvl="0" marL="914400" rtl="0" algn="l">
              <a:lnSpc>
                <a:spcPct val="100000"/>
              </a:lnSpc>
              <a:spcBef>
                <a:spcPts val="0"/>
              </a:spcBef>
              <a:spcAft>
                <a:spcPts val="0"/>
              </a:spcAft>
              <a:buNone/>
            </a:pPr>
            <a:r>
              <a:t/>
            </a:r>
            <a:endParaRPr i="1" sz="1200">
              <a:solidFill>
                <a:srgbClr val="000000"/>
              </a:solidFill>
              <a:latin typeface="Arial"/>
              <a:ea typeface="Arial"/>
              <a:cs typeface="Arial"/>
              <a:sym typeface="Arial"/>
            </a:endParaRPr>
          </a:p>
          <a:p>
            <a:pPr indent="-304800" lvl="0" marL="457200" rtl="0" algn="l">
              <a:lnSpc>
                <a:spcPct val="100000"/>
              </a:lnSpc>
              <a:spcBef>
                <a:spcPts val="0"/>
              </a:spcBef>
              <a:spcAft>
                <a:spcPts val="0"/>
              </a:spcAft>
              <a:buClr>
                <a:srgbClr val="000000"/>
              </a:buClr>
              <a:buSzPts val="1200"/>
              <a:buFont typeface="Arial"/>
              <a:buAutoNum type="arabicPeriod"/>
            </a:pPr>
            <a:r>
              <a:rPr i="1" lang="en" sz="1200">
                <a:solidFill>
                  <a:srgbClr val="000000"/>
                </a:solidFill>
                <a:latin typeface="Arial"/>
                <a:ea typeface="Arial"/>
                <a:cs typeface="Arial"/>
                <a:sym typeface="Arial"/>
              </a:rPr>
              <a:t>Why would casual riders buy Cyclistic annual memberships?</a:t>
            </a:r>
            <a:endParaRPr i="1" sz="12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i="1" sz="12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i="1" lang="en" sz="1200">
                <a:solidFill>
                  <a:srgbClr val="000000"/>
                </a:solidFill>
                <a:latin typeface="Arial"/>
                <a:ea typeface="Arial"/>
                <a:cs typeface="Arial"/>
                <a:sym typeface="Arial"/>
              </a:rPr>
              <a:t>Casual riders might buy annual memberships to </a:t>
            </a:r>
            <a:r>
              <a:rPr i="1" lang="en" sz="1200" u="sng">
                <a:solidFill>
                  <a:srgbClr val="000000"/>
                </a:solidFill>
                <a:latin typeface="Arial"/>
                <a:ea typeface="Arial"/>
                <a:cs typeface="Arial"/>
                <a:sym typeface="Arial"/>
              </a:rPr>
              <a:t>save money</a:t>
            </a:r>
            <a:r>
              <a:rPr i="1" lang="en" sz="1200">
                <a:solidFill>
                  <a:srgbClr val="000000"/>
                </a:solidFill>
                <a:latin typeface="Arial"/>
                <a:ea typeface="Arial"/>
                <a:cs typeface="Arial"/>
                <a:sym typeface="Arial"/>
              </a:rPr>
              <a:t> if they use the service frequently, </a:t>
            </a:r>
            <a:r>
              <a:rPr i="1" lang="en" sz="1200" u="sng">
                <a:solidFill>
                  <a:srgbClr val="000000"/>
                </a:solidFill>
                <a:latin typeface="Arial"/>
                <a:ea typeface="Arial"/>
                <a:cs typeface="Arial"/>
                <a:sym typeface="Arial"/>
              </a:rPr>
              <a:t>enjoy the convenience of unlimited rides</a:t>
            </a:r>
            <a:r>
              <a:rPr i="1" lang="en" sz="1200">
                <a:solidFill>
                  <a:srgbClr val="000000"/>
                </a:solidFill>
                <a:latin typeface="Arial"/>
                <a:ea typeface="Arial"/>
                <a:cs typeface="Arial"/>
                <a:sym typeface="Arial"/>
              </a:rPr>
              <a:t>, or </a:t>
            </a:r>
            <a:r>
              <a:rPr i="1" lang="en" sz="1200" u="sng">
                <a:solidFill>
                  <a:srgbClr val="000000"/>
                </a:solidFill>
                <a:latin typeface="Arial"/>
                <a:ea typeface="Arial"/>
                <a:cs typeface="Arial"/>
                <a:sym typeface="Arial"/>
              </a:rPr>
              <a:t>access exclusive perks</a:t>
            </a:r>
            <a:r>
              <a:rPr i="1" lang="en" sz="1200">
                <a:solidFill>
                  <a:srgbClr val="000000"/>
                </a:solidFill>
                <a:latin typeface="Arial"/>
                <a:ea typeface="Arial"/>
                <a:cs typeface="Arial"/>
                <a:sym typeface="Arial"/>
              </a:rPr>
              <a:t> like discounts at local attractions or priority bike access during peak times.</a:t>
            </a:r>
            <a:endParaRPr i="1" sz="1200">
              <a:solidFill>
                <a:srgbClr val="000000"/>
              </a:solidFill>
              <a:latin typeface="Arial"/>
              <a:ea typeface="Arial"/>
              <a:cs typeface="Arial"/>
              <a:sym typeface="Arial"/>
            </a:endParaRPr>
          </a:p>
          <a:p>
            <a:pPr indent="0" lvl="0" marL="914400" rtl="0" algn="l">
              <a:lnSpc>
                <a:spcPct val="100000"/>
              </a:lnSpc>
              <a:spcBef>
                <a:spcPts val="0"/>
              </a:spcBef>
              <a:spcAft>
                <a:spcPts val="0"/>
              </a:spcAft>
              <a:buNone/>
            </a:pPr>
            <a:r>
              <a:t/>
            </a:r>
            <a:endParaRPr i="1" sz="1200">
              <a:solidFill>
                <a:srgbClr val="000000"/>
              </a:solidFill>
              <a:latin typeface="Arial"/>
              <a:ea typeface="Arial"/>
              <a:cs typeface="Arial"/>
              <a:sym typeface="Arial"/>
            </a:endParaRPr>
          </a:p>
          <a:p>
            <a:pPr indent="-304800" lvl="0" marL="457200" rtl="0" algn="l">
              <a:lnSpc>
                <a:spcPct val="100000"/>
              </a:lnSpc>
              <a:spcBef>
                <a:spcPts val="0"/>
              </a:spcBef>
              <a:spcAft>
                <a:spcPts val="0"/>
              </a:spcAft>
              <a:buClr>
                <a:srgbClr val="000000"/>
              </a:buClr>
              <a:buSzPts val="1200"/>
              <a:buFont typeface="Arial"/>
              <a:buAutoNum type="arabicPeriod"/>
            </a:pPr>
            <a:r>
              <a:rPr i="1" lang="en" sz="1200">
                <a:solidFill>
                  <a:srgbClr val="000000"/>
                </a:solidFill>
                <a:latin typeface="Arial"/>
                <a:ea typeface="Arial"/>
                <a:cs typeface="Arial"/>
                <a:sym typeface="Arial"/>
              </a:rPr>
              <a:t>How can Cyclistic use digital media to influence casual riders to become members?</a:t>
            </a:r>
            <a:endParaRPr i="1" sz="12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i="1" sz="12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i="1" lang="en" sz="1200">
                <a:solidFill>
                  <a:srgbClr val="000000"/>
                </a:solidFill>
                <a:latin typeface="Arial"/>
                <a:ea typeface="Arial"/>
                <a:cs typeface="Arial"/>
                <a:sym typeface="Arial"/>
              </a:rPr>
              <a:t>Cyclistic can use </a:t>
            </a:r>
            <a:r>
              <a:rPr b="1" i="1" lang="en" sz="1200">
                <a:solidFill>
                  <a:srgbClr val="000000"/>
                </a:solidFill>
                <a:latin typeface="Arial"/>
                <a:ea typeface="Arial"/>
                <a:cs typeface="Arial"/>
                <a:sym typeface="Arial"/>
              </a:rPr>
              <a:t>targeted social media ads </a:t>
            </a:r>
            <a:r>
              <a:rPr i="1" lang="en" sz="1200">
                <a:solidFill>
                  <a:srgbClr val="000000"/>
                </a:solidFill>
                <a:latin typeface="Arial"/>
                <a:ea typeface="Arial"/>
                <a:cs typeface="Arial"/>
                <a:sym typeface="Arial"/>
              </a:rPr>
              <a:t>displaying the variety of bike types available, </a:t>
            </a:r>
            <a:r>
              <a:rPr b="1" i="1" lang="en" sz="1200">
                <a:solidFill>
                  <a:srgbClr val="000000"/>
                </a:solidFill>
                <a:latin typeface="Arial"/>
                <a:ea typeface="Arial"/>
                <a:cs typeface="Arial"/>
                <a:sym typeface="Arial"/>
              </a:rPr>
              <a:t>hosting events &amp; marathons</a:t>
            </a:r>
            <a:r>
              <a:rPr i="1" lang="en" sz="1200">
                <a:solidFill>
                  <a:srgbClr val="000000"/>
                </a:solidFill>
                <a:latin typeface="Arial"/>
                <a:ea typeface="Arial"/>
                <a:cs typeface="Arial"/>
                <a:sym typeface="Arial"/>
              </a:rPr>
              <a:t> with rewards, and </a:t>
            </a:r>
            <a:r>
              <a:rPr b="1" i="1" lang="en" sz="1200">
                <a:solidFill>
                  <a:srgbClr val="000000"/>
                </a:solidFill>
                <a:latin typeface="Arial"/>
                <a:ea typeface="Arial"/>
                <a:cs typeface="Arial"/>
                <a:sym typeface="Arial"/>
              </a:rPr>
              <a:t>in-app promotions</a:t>
            </a:r>
            <a:r>
              <a:rPr i="1" lang="en" sz="1200">
                <a:solidFill>
                  <a:srgbClr val="000000"/>
                </a:solidFill>
                <a:latin typeface="Arial"/>
                <a:ea typeface="Arial"/>
                <a:cs typeface="Arial"/>
                <a:sym typeface="Arial"/>
              </a:rPr>
              <a:t> to highlight the benefits of annual memberships.</a:t>
            </a:r>
            <a:endParaRPr i="1" sz="12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i="1" sz="13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i="1" sz="1300">
              <a:solidFill>
                <a:srgbClr val="000000"/>
              </a:solidFill>
              <a:latin typeface="Arial"/>
              <a:ea typeface="Arial"/>
              <a:cs typeface="Arial"/>
              <a:sym typeface="Arial"/>
            </a:endParaRPr>
          </a:p>
          <a:p>
            <a:pPr indent="0" lvl="0" marL="914400" rtl="0" algn="l">
              <a:lnSpc>
                <a:spcPct val="100000"/>
              </a:lnSpc>
              <a:spcBef>
                <a:spcPts val="0"/>
              </a:spcBef>
              <a:spcAft>
                <a:spcPts val="0"/>
              </a:spcAft>
              <a:buNone/>
            </a:pPr>
            <a:r>
              <a:t/>
            </a:r>
            <a:endParaRPr i="1" sz="1200">
              <a:solidFill>
                <a:srgbClr val="000000"/>
              </a:solidFill>
              <a:latin typeface="Arial"/>
              <a:ea typeface="Arial"/>
              <a:cs typeface="Arial"/>
              <a:sym typeface="Arial"/>
            </a:endParaRPr>
          </a:p>
          <a:p>
            <a:pPr indent="0" lvl="0" marL="457200" rtl="0" algn="l">
              <a:spcBef>
                <a:spcPts val="0"/>
              </a:spcBef>
              <a:spcAft>
                <a:spcPts val="1600"/>
              </a:spcAft>
              <a:buNone/>
            </a:pPr>
            <a:r>
              <a:t/>
            </a:r>
            <a:endParaRPr/>
          </a:p>
        </p:txBody>
      </p:sp>
      <p:pic>
        <p:nvPicPr>
          <p:cNvPr id="227" name="Google Shape;227;p40"/>
          <p:cNvPicPr preferRelativeResize="0"/>
          <p:nvPr/>
        </p:nvPicPr>
        <p:blipFill>
          <a:blip r:embed="rId3">
            <a:alphaModFix/>
          </a:blip>
          <a:stretch>
            <a:fillRect/>
          </a:stretch>
        </p:blipFill>
        <p:spPr>
          <a:xfrm>
            <a:off x="5035775" y="0"/>
            <a:ext cx="4108224" cy="2616601"/>
          </a:xfrm>
          <a:prstGeom prst="rect">
            <a:avLst/>
          </a:prstGeom>
          <a:noFill/>
          <a:ln>
            <a:noFill/>
          </a:ln>
        </p:spPr>
      </p:pic>
      <p:pic>
        <p:nvPicPr>
          <p:cNvPr id="228" name="Google Shape;228;p40"/>
          <p:cNvPicPr preferRelativeResize="0"/>
          <p:nvPr/>
        </p:nvPicPr>
        <p:blipFill>
          <a:blip r:embed="rId4">
            <a:alphaModFix/>
          </a:blip>
          <a:stretch>
            <a:fillRect/>
          </a:stretch>
        </p:blipFill>
        <p:spPr>
          <a:xfrm>
            <a:off x="5035787" y="2721275"/>
            <a:ext cx="4108214" cy="2422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1"/>
          <p:cNvSpPr txBox="1"/>
          <p:nvPr>
            <p:ph type="title"/>
          </p:nvPr>
        </p:nvSpPr>
        <p:spPr>
          <a:xfrm>
            <a:off x="95025" y="99725"/>
            <a:ext cx="6132600" cy="80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500" u="sng"/>
              <a:t>Was our hypothesis correct?</a:t>
            </a:r>
            <a:endParaRPr sz="3500"/>
          </a:p>
        </p:txBody>
      </p:sp>
      <p:sp>
        <p:nvSpPr>
          <p:cNvPr id="234" name="Google Shape;234;p41"/>
          <p:cNvSpPr txBox="1"/>
          <p:nvPr/>
        </p:nvSpPr>
        <p:spPr>
          <a:xfrm>
            <a:off x="1431900" y="1148475"/>
            <a:ext cx="6280200" cy="9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Roboto"/>
                <a:ea typeface="Roboto"/>
                <a:cs typeface="Roboto"/>
                <a:sym typeface="Roboto"/>
              </a:rPr>
              <a:t>Hypothesis:</a:t>
            </a:r>
            <a:r>
              <a:rPr lang="en">
                <a:solidFill>
                  <a:srgbClr val="38761D"/>
                </a:solidFill>
                <a:latin typeface="Roboto"/>
                <a:ea typeface="Roboto"/>
                <a:cs typeface="Roboto"/>
                <a:sym typeface="Roboto"/>
              </a:rPr>
              <a:t> </a:t>
            </a:r>
            <a:r>
              <a:rPr lang="en">
                <a:solidFill>
                  <a:srgbClr val="38761D"/>
                </a:solidFill>
                <a:latin typeface="Roboto"/>
                <a:ea typeface="Roboto"/>
                <a:cs typeface="Roboto"/>
                <a:sym typeface="Roboto"/>
              </a:rPr>
              <a:t>Lily Moreno believes that maximizing the number of annual members will be key to future growth.</a:t>
            </a:r>
            <a:endParaRPr>
              <a:solidFill>
                <a:srgbClr val="38761D"/>
              </a:solidFill>
              <a:latin typeface="Roboto"/>
              <a:ea typeface="Roboto"/>
              <a:cs typeface="Roboto"/>
              <a:sym typeface="Roboto"/>
            </a:endParaRPr>
          </a:p>
        </p:txBody>
      </p:sp>
      <p:sp>
        <p:nvSpPr>
          <p:cNvPr id="235" name="Google Shape;235;p41"/>
          <p:cNvSpPr txBox="1"/>
          <p:nvPr/>
        </p:nvSpPr>
        <p:spPr>
          <a:xfrm>
            <a:off x="1248150" y="2125575"/>
            <a:ext cx="6647700" cy="206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404040"/>
                </a:solidFill>
                <a:latin typeface="Roboto"/>
                <a:ea typeface="Roboto"/>
                <a:cs typeface="Roboto"/>
                <a:sym typeface="Roboto"/>
              </a:rPr>
              <a:t>Answer: </a:t>
            </a:r>
            <a:endParaRPr b="1">
              <a:solidFill>
                <a:srgbClr val="404040"/>
              </a:solidFill>
              <a:latin typeface="Roboto"/>
              <a:ea typeface="Roboto"/>
              <a:cs typeface="Roboto"/>
              <a:sym typeface="Roboto"/>
            </a:endParaRPr>
          </a:p>
          <a:p>
            <a:pPr indent="0" lvl="0" marL="0" rtl="0" algn="l">
              <a:spcBef>
                <a:spcPts val="0"/>
              </a:spcBef>
              <a:spcAft>
                <a:spcPts val="0"/>
              </a:spcAft>
              <a:buNone/>
            </a:pPr>
            <a:r>
              <a:t/>
            </a:r>
            <a:endParaRPr b="1" sz="1200">
              <a:solidFill>
                <a:srgbClr val="404040"/>
              </a:solidFill>
              <a:latin typeface="Roboto"/>
              <a:ea typeface="Roboto"/>
              <a:cs typeface="Roboto"/>
              <a:sym typeface="Roboto"/>
            </a:endParaRPr>
          </a:p>
          <a:p>
            <a:pPr indent="0" lvl="0" marL="0" rtl="0" algn="l">
              <a:spcBef>
                <a:spcPts val="0"/>
              </a:spcBef>
              <a:spcAft>
                <a:spcPts val="0"/>
              </a:spcAft>
              <a:buNone/>
            </a:pPr>
            <a:r>
              <a:rPr b="1" lang="en" sz="1200">
                <a:solidFill>
                  <a:srgbClr val="404040"/>
                </a:solidFill>
                <a:latin typeface="Roboto"/>
                <a:ea typeface="Roboto"/>
                <a:cs typeface="Roboto"/>
                <a:sym typeface="Roboto"/>
              </a:rPr>
              <a:t>maximizing the number of annual members is the correct course of action</a:t>
            </a:r>
            <a:r>
              <a:rPr lang="en" sz="1200">
                <a:solidFill>
                  <a:srgbClr val="404040"/>
                </a:solidFill>
                <a:latin typeface="Roboto"/>
                <a:ea typeface="Roboto"/>
                <a:cs typeface="Roboto"/>
                <a:sym typeface="Roboto"/>
              </a:rPr>
              <a:t> for Cyclistic's future growth. Annual members provide </a:t>
            </a:r>
            <a:r>
              <a:rPr b="1" lang="en" sz="1200">
                <a:solidFill>
                  <a:srgbClr val="404040"/>
                </a:solidFill>
                <a:latin typeface="Roboto"/>
                <a:ea typeface="Roboto"/>
                <a:cs typeface="Roboto"/>
                <a:sym typeface="Roboto"/>
              </a:rPr>
              <a:t>consistent revenue</a:t>
            </a:r>
            <a:r>
              <a:rPr lang="en" sz="1200">
                <a:solidFill>
                  <a:srgbClr val="404040"/>
                </a:solidFill>
                <a:latin typeface="Roboto"/>
                <a:ea typeface="Roboto"/>
                <a:cs typeface="Roboto"/>
                <a:sym typeface="Roboto"/>
              </a:rPr>
              <a:t>, higher </a:t>
            </a:r>
            <a:r>
              <a:rPr b="1" lang="en" sz="1200">
                <a:solidFill>
                  <a:srgbClr val="404040"/>
                </a:solidFill>
                <a:latin typeface="Roboto"/>
                <a:ea typeface="Roboto"/>
                <a:cs typeface="Roboto"/>
                <a:sym typeface="Roboto"/>
              </a:rPr>
              <a:t>usage frequency</a:t>
            </a:r>
            <a:r>
              <a:rPr lang="en" sz="1200">
                <a:solidFill>
                  <a:srgbClr val="404040"/>
                </a:solidFill>
                <a:latin typeface="Roboto"/>
                <a:ea typeface="Roboto"/>
                <a:cs typeface="Roboto"/>
                <a:sym typeface="Roboto"/>
              </a:rPr>
              <a:t>, and </a:t>
            </a:r>
            <a:r>
              <a:rPr b="1" lang="en" sz="1200">
                <a:solidFill>
                  <a:srgbClr val="404040"/>
                </a:solidFill>
                <a:latin typeface="Roboto"/>
                <a:ea typeface="Roboto"/>
                <a:cs typeface="Roboto"/>
                <a:sym typeface="Roboto"/>
              </a:rPr>
              <a:t>predictable ridership patterns</a:t>
            </a:r>
            <a:r>
              <a:rPr lang="en" sz="1200">
                <a:solidFill>
                  <a:srgbClr val="404040"/>
                </a:solidFill>
                <a:latin typeface="Roboto"/>
                <a:ea typeface="Roboto"/>
                <a:cs typeface="Roboto"/>
                <a:sym typeface="Roboto"/>
              </a:rPr>
              <a:t>, which are crucial for operational planning and scalability. Additionally, converting casual riders—who already show interest in the service—into annual members can further </a:t>
            </a:r>
            <a:r>
              <a:rPr b="1" lang="en" sz="1200">
                <a:solidFill>
                  <a:srgbClr val="404040"/>
                </a:solidFill>
                <a:latin typeface="Roboto"/>
                <a:ea typeface="Roboto"/>
                <a:cs typeface="Roboto"/>
                <a:sym typeface="Roboto"/>
              </a:rPr>
              <a:t>increase customer loyalty</a:t>
            </a:r>
            <a:r>
              <a:rPr lang="en" sz="1200">
                <a:solidFill>
                  <a:srgbClr val="404040"/>
                </a:solidFill>
                <a:latin typeface="Roboto"/>
                <a:ea typeface="Roboto"/>
                <a:cs typeface="Roboto"/>
                <a:sym typeface="Roboto"/>
              </a:rPr>
              <a:t> and </a:t>
            </a:r>
            <a:r>
              <a:rPr b="1" lang="en" sz="1200">
                <a:solidFill>
                  <a:srgbClr val="404040"/>
                </a:solidFill>
                <a:latin typeface="Roboto"/>
                <a:ea typeface="Roboto"/>
                <a:cs typeface="Roboto"/>
                <a:sym typeface="Roboto"/>
              </a:rPr>
              <a:t>reduce marketing costs</a:t>
            </a:r>
            <a:r>
              <a:rPr lang="en" sz="1200">
                <a:solidFill>
                  <a:srgbClr val="404040"/>
                </a:solidFill>
                <a:latin typeface="Roboto"/>
                <a:ea typeface="Roboto"/>
                <a:cs typeface="Roboto"/>
                <a:sym typeface="Roboto"/>
              </a:rPr>
              <a:t> over time. This strategy aligns with the data showing that annual members use bikes more regularly and for shorter, commuter-focused trips, making them a more stable and profitable user base compared to casual riders.</a:t>
            </a:r>
            <a:endParaRPr sz="1200">
              <a:solidFill>
                <a:srgbClr val="262626"/>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ph idx="4294967295" type="title"/>
          </p:nvPr>
        </p:nvSpPr>
        <p:spPr>
          <a:xfrm>
            <a:off x="311700" y="198325"/>
            <a:ext cx="4084500" cy="100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Time to Act!</a:t>
            </a:r>
            <a:r>
              <a:rPr lang="en" sz="1800"/>
              <a:t> </a:t>
            </a:r>
            <a:br>
              <a:rPr lang="en" sz="2400"/>
            </a:br>
            <a:r>
              <a:rPr lang="en" sz="3700"/>
              <a:t>Recommendations</a:t>
            </a:r>
            <a:endParaRPr sz="3700"/>
          </a:p>
        </p:txBody>
      </p:sp>
      <p:sp>
        <p:nvSpPr>
          <p:cNvPr id="241" name="Google Shape;241;p42"/>
          <p:cNvSpPr txBox="1"/>
          <p:nvPr>
            <p:ph idx="4294967295" type="body"/>
          </p:nvPr>
        </p:nvSpPr>
        <p:spPr>
          <a:xfrm>
            <a:off x="311700" y="1319225"/>
            <a:ext cx="4084500" cy="3672000"/>
          </a:xfrm>
          <a:prstGeom prst="rect">
            <a:avLst/>
          </a:prstGeom>
        </p:spPr>
        <p:txBody>
          <a:bodyPr anchorCtr="0" anchor="t" bIns="91425" lIns="91425" spcFirstLastPara="1" rIns="91425" wrap="square" tIns="91425">
            <a:noAutofit/>
          </a:bodyPr>
          <a:lstStyle/>
          <a:p>
            <a:pPr indent="-311150" lvl="0" marL="457200" rtl="0" algn="l">
              <a:lnSpc>
                <a:spcPct val="100000"/>
              </a:lnSpc>
              <a:spcBef>
                <a:spcPts val="0"/>
              </a:spcBef>
              <a:spcAft>
                <a:spcPts val="0"/>
              </a:spcAft>
              <a:buClr>
                <a:srgbClr val="000000"/>
              </a:buClr>
              <a:buSzPts val="1300"/>
              <a:buFont typeface="Arial"/>
              <a:buAutoNum type="arabicPeriod"/>
            </a:pPr>
            <a:r>
              <a:rPr i="1" lang="en" sz="1300">
                <a:solidFill>
                  <a:srgbClr val="000000"/>
                </a:solidFill>
                <a:latin typeface="Arial"/>
                <a:ea typeface="Arial"/>
                <a:cs typeface="Arial"/>
                <a:sym typeface="Arial"/>
              </a:rPr>
              <a:t>To convert casual riders into annual members, Cyclistic could </a:t>
            </a:r>
            <a:r>
              <a:rPr b="1" i="1" lang="en" sz="1300">
                <a:solidFill>
                  <a:srgbClr val="000000"/>
                </a:solidFill>
                <a:latin typeface="Arial"/>
                <a:ea typeface="Arial"/>
                <a:cs typeface="Arial"/>
                <a:sym typeface="Arial"/>
              </a:rPr>
              <a:t>target marketing campaigns</a:t>
            </a:r>
            <a:r>
              <a:rPr i="1" lang="en" sz="1300">
                <a:solidFill>
                  <a:srgbClr val="000000"/>
                </a:solidFill>
                <a:latin typeface="Arial"/>
                <a:ea typeface="Arial"/>
                <a:cs typeface="Arial"/>
                <a:sym typeface="Arial"/>
              </a:rPr>
              <a:t> at popular casual stations, </a:t>
            </a:r>
            <a:r>
              <a:rPr i="1" lang="en" sz="1300" u="sng">
                <a:solidFill>
                  <a:srgbClr val="000000"/>
                </a:solidFill>
                <a:latin typeface="Arial"/>
                <a:ea typeface="Arial"/>
                <a:cs typeface="Arial"/>
                <a:sym typeface="Arial"/>
              </a:rPr>
              <a:t>emphasizing</a:t>
            </a:r>
            <a:r>
              <a:rPr i="1" lang="en" sz="1300">
                <a:solidFill>
                  <a:srgbClr val="000000"/>
                </a:solidFill>
                <a:latin typeface="Arial"/>
                <a:ea typeface="Arial"/>
                <a:cs typeface="Arial"/>
                <a:sym typeface="Arial"/>
              </a:rPr>
              <a:t> the </a:t>
            </a:r>
            <a:r>
              <a:rPr i="1" lang="en" sz="1300" u="sng">
                <a:solidFill>
                  <a:srgbClr val="000000"/>
                </a:solidFill>
                <a:latin typeface="Arial"/>
                <a:ea typeface="Arial"/>
                <a:cs typeface="Arial"/>
                <a:sym typeface="Arial"/>
              </a:rPr>
              <a:t>cost savings and convenience</a:t>
            </a:r>
            <a:r>
              <a:rPr i="1" lang="en" sz="1300">
                <a:solidFill>
                  <a:srgbClr val="000000"/>
                </a:solidFill>
                <a:latin typeface="Arial"/>
                <a:ea typeface="Arial"/>
                <a:cs typeface="Arial"/>
                <a:sym typeface="Arial"/>
              </a:rPr>
              <a:t> of memberships for both leisure and commuting purposes.</a:t>
            </a:r>
            <a:endParaRPr i="1" sz="1300">
              <a:solidFill>
                <a:srgbClr val="000000"/>
              </a:solidFill>
              <a:latin typeface="Arial"/>
              <a:ea typeface="Arial"/>
              <a:cs typeface="Arial"/>
              <a:sym typeface="Arial"/>
            </a:endParaRPr>
          </a:p>
          <a:p>
            <a:pPr indent="0" lvl="0" marL="914400" rtl="0" algn="l">
              <a:lnSpc>
                <a:spcPct val="100000"/>
              </a:lnSpc>
              <a:spcBef>
                <a:spcPts val="0"/>
              </a:spcBef>
              <a:spcAft>
                <a:spcPts val="0"/>
              </a:spcAft>
              <a:buNone/>
            </a:pPr>
            <a:r>
              <a:t/>
            </a:r>
            <a:endParaRPr i="1" sz="1300">
              <a:solidFill>
                <a:srgbClr val="000000"/>
              </a:solidFill>
              <a:latin typeface="Arial"/>
              <a:ea typeface="Arial"/>
              <a:cs typeface="Arial"/>
              <a:sym typeface="Arial"/>
            </a:endParaRPr>
          </a:p>
          <a:p>
            <a:pPr indent="0" lvl="0" marL="914400" rtl="0" algn="l">
              <a:lnSpc>
                <a:spcPct val="100000"/>
              </a:lnSpc>
              <a:spcBef>
                <a:spcPts val="0"/>
              </a:spcBef>
              <a:spcAft>
                <a:spcPts val="0"/>
              </a:spcAft>
              <a:buNone/>
            </a:pPr>
            <a:r>
              <a:t/>
            </a:r>
            <a:endParaRPr i="1" sz="1300">
              <a:solidFill>
                <a:srgbClr val="000000"/>
              </a:solidFill>
              <a:latin typeface="Arial"/>
              <a:ea typeface="Arial"/>
              <a:cs typeface="Arial"/>
              <a:sym typeface="Arial"/>
            </a:endParaRPr>
          </a:p>
          <a:p>
            <a:pPr indent="-311150" lvl="0" marL="457200" rtl="0" algn="l">
              <a:lnSpc>
                <a:spcPct val="100000"/>
              </a:lnSpc>
              <a:spcBef>
                <a:spcPts val="0"/>
              </a:spcBef>
              <a:spcAft>
                <a:spcPts val="0"/>
              </a:spcAft>
              <a:buClr>
                <a:srgbClr val="000000"/>
              </a:buClr>
              <a:buSzPts val="1300"/>
              <a:buFont typeface="Arial"/>
              <a:buAutoNum type="arabicPeriod"/>
            </a:pPr>
            <a:r>
              <a:rPr i="1" lang="en" sz="1300">
                <a:solidFill>
                  <a:srgbClr val="000000"/>
                </a:solidFill>
                <a:latin typeface="Arial"/>
                <a:ea typeface="Arial"/>
                <a:cs typeface="Arial"/>
                <a:sym typeface="Arial"/>
              </a:rPr>
              <a:t>Additionally, </a:t>
            </a:r>
            <a:r>
              <a:rPr i="1" lang="en" sz="1300" u="sng">
                <a:solidFill>
                  <a:srgbClr val="000000"/>
                </a:solidFill>
                <a:latin typeface="Arial"/>
                <a:ea typeface="Arial"/>
                <a:cs typeface="Arial"/>
                <a:sym typeface="Arial"/>
              </a:rPr>
              <a:t>improving bike availability</a:t>
            </a:r>
            <a:r>
              <a:rPr i="1" lang="en" sz="1300">
                <a:solidFill>
                  <a:srgbClr val="000000"/>
                </a:solidFill>
                <a:latin typeface="Arial"/>
                <a:ea typeface="Arial"/>
                <a:cs typeface="Arial"/>
                <a:sym typeface="Arial"/>
              </a:rPr>
              <a:t> and </a:t>
            </a:r>
            <a:r>
              <a:rPr i="1" lang="en" sz="1300" u="sng">
                <a:solidFill>
                  <a:srgbClr val="000000"/>
                </a:solidFill>
                <a:latin typeface="Arial"/>
                <a:ea typeface="Arial"/>
                <a:cs typeface="Arial"/>
                <a:sym typeface="Arial"/>
              </a:rPr>
              <a:t>docking infrastructure</a:t>
            </a:r>
            <a:r>
              <a:rPr i="1" lang="en" sz="1300">
                <a:solidFill>
                  <a:srgbClr val="000000"/>
                </a:solidFill>
                <a:latin typeface="Arial"/>
                <a:ea typeface="Arial"/>
                <a:cs typeface="Arial"/>
                <a:sym typeface="Arial"/>
              </a:rPr>
              <a:t> at these high-traffic casual stations </a:t>
            </a:r>
            <a:r>
              <a:rPr b="1" i="1" lang="en" sz="1300">
                <a:solidFill>
                  <a:srgbClr val="000000"/>
                </a:solidFill>
                <a:latin typeface="Arial"/>
                <a:ea typeface="Arial"/>
                <a:cs typeface="Arial"/>
                <a:sym typeface="Arial"/>
              </a:rPr>
              <a:t>could enhance</a:t>
            </a:r>
            <a:r>
              <a:rPr i="1" lang="en" sz="1300">
                <a:solidFill>
                  <a:srgbClr val="000000"/>
                </a:solidFill>
                <a:latin typeface="Arial"/>
                <a:ea typeface="Arial"/>
                <a:cs typeface="Arial"/>
                <a:sym typeface="Arial"/>
              </a:rPr>
              <a:t> the </a:t>
            </a:r>
            <a:r>
              <a:rPr b="1" i="1" lang="en" sz="1300">
                <a:solidFill>
                  <a:srgbClr val="000000"/>
                </a:solidFill>
                <a:latin typeface="Arial"/>
                <a:ea typeface="Arial"/>
                <a:cs typeface="Arial"/>
                <a:sym typeface="Arial"/>
              </a:rPr>
              <a:t>user experience</a:t>
            </a:r>
            <a:r>
              <a:rPr i="1" lang="en" sz="1300">
                <a:solidFill>
                  <a:srgbClr val="000000"/>
                </a:solidFill>
                <a:latin typeface="Arial"/>
                <a:ea typeface="Arial"/>
                <a:cs typeface="Arial"/>
                <a:sym typeface="Arial"/>
              </a:rPr>
              <a:t> and </a:t>
            </a:r>
            <a:r>
              <a:rPr b="1" i="1" lang="en" sz="1300">
                <a:solidFill>
                  <a:srgbClr val="000000"/>
                </a:solidFill>
                <a:latin typeface="Arial"/>
                <a:ea typeface="Arial"/>
                <a:cs typeface="Arial"/>
                <a:sym typeface="Arial"/>
              </a:rPr>
              <a:t>encourage membership conversions</a:t>
            </a:r>
            <a:r>
              <a:rPr i="1" lang="en" sz="1300">
                <a:solidFill>
                  <a:srgbClr val="000000"/>
                </a:solidFill>
                <a:latin typeface="Arial"/>
                <a:ea typeface="Arial"/>
                <a:cs typeface="Arial"/>
                <a:sym typeface="Arial"/>
              </a:rPr>
              <a:t>.</a:t>
            </a:r>
            <a:endParaRPr i="1" sz="1300">
              <a:solidFill>
                <a:srgbClr val="000000"/>
              </a:solidFill>
              <a:latin typeface="Arial"/>
              <a:ea typeface="Arial"/>
              <a:cs typeface="Arial"/>
              <a:sym typeface="Arial"/>
            </a:endParaRPr>
          </a:p>
          <a:p>
            <a:pPr indent="0" lvl="0" marL="914400" rtl="0" algn="l">
              <a:lnSpc>
                <a:spcPct val="100000"/>
              </a:lnSpc>
              <a:spcBef>
                <a:spcPts val="0"/>
              </a:spcBef>
              <a:spcAft>
                <a:spcPts val="0"/>
              </a:spcAft>
              <a:buNone/>
            </a:pPr>
            <a:r>
              <a:t/>
            </a:r>
            <a:endParaRPr i="1" sz="1300">
              <a:solidFill>
                <a:srgbClr val="000000"/>
              </a:solidFill>
              <a:latin typeface="Arial"/>
              <a:ea typeface="Arial"/>
              <a:cs typeface="Arial"/>
              <a:sym typeface="Arial"/>
            </a:endParaRPr>
          </a:p>
          <a:p>
            <a:pPr indent="0" lvl="0" marL="914400" rtl="0" algn="l">
              <a:lnSpc>
                <a:spcPct val="100000"/>
              </a:lnSpc>
              <a:spcBef>
                <a:spcPts val="0"/>
              </a:spcBef>
              <a:spcAft>
                <a:spcPts val="0"/>
              </a:spcAft>
              <a:buNone/>
            </a:pPr>
            <a:r>
              <a:t/>
            </a:r>
            <a:endParaRPr i="1" sz="1300">
              <a:solidFill>
                <a:srgbClr val="000000"/>
              </a:solidFill>
              <a:latin typeface="Arial"/>
              <a:ea typeface="Arial"/>
              <a:cs typeface="Arial"/>
              <a:sym typeface="Arial"/>
            </a:endParaRPr>
          </a:p>
          <a:p>
            <a:pPr indent="-311150" lvl="0" marL="457200" rtl="0" algn="l">
              <a:lnSpc>
                <a:spcPct val="100000"/>
              </a:lnSpc>
              <a:spcBef>
                <a:spcPts val="0"/>
              </a:spcBef>
              <a:spcAft>
                <a:spcPts val="0"/>
              </a:spcAft>
              <a:buClr>
                <a:srgbClr val="000000"/>
              </a:buClr>
              <a:buSzPts val="1300"/>
              <a:buFont typeface="Arial"/>
              <a:buAutoNum type="arabicPeriod"/>
            </a:pPr>
            <a:r>
              <a:rPr i="1" lang="en" sz="1300">
                <a:solidFill>
                  <a:srgbClr val="000000"/>
                </a:solidFill>
                <a:latin typeface="Arial"/>
                <a:ea typeface="Arial"/>
                <a:cs typeface="Arial"/>
                <a:sym typeface="Arial"/>
              </a:rPr>
              <a:t>F</a:t>
            </a:r>
            <a:r>
              <a:rPr i="1" lang="en" sz="1300">
                <a:solidFill>
                  <a:srgbClr val="000000"/>
                </a:solidFill>
                <a:latin typeface="Arial"/>
                <a:ea typeface="Arial"/>
                <a:cs typeface="Arial"/>
                <a:sym typeface="Arial"/>
              </a:rPr>
              <a:t>inally, the </a:t>
            </a:r>
            <a:r>
              <a:rPr b="1" i="1" lang="en" sz="1300">
                <a:solidFill>
                  <a:srgbClr val="000000"/>
                </a:solidFill>
                <a:latin typeface="Arial"/>
                <a:ea typeface="Arial"/>
                <a:cs typeface="Arial"/>
                <a:sym typeface="Arial"/>
              </a:rPr>
              <a:t>advertisements should showcase</a:t>
            </a:r>
            <a:r>
              <a:rPr i="1" lang="en" sz="1300">
                <a:solidFill>
                  <a:srgbClr val="000000"/>
                </a:solidFill>
                <a:latin typeface="Arial"/>
                <a:ea typeface="Arial"/>
                <a:cs typeface="Arial"/>
                <a:sym typeface="Arial"/>
              </a:rPr>
              <a:t> the </a:t>
            </a:r>
            <a:r>
              <a:rPr i="1" lang="en" sz="1300" u="sng">
                <a:solidFill>
                  <a:srgbClr val="000000"/>
                </a:solidFill>
                <a:latin typeface="Arial"/>
                <a:ea typeface="Arial"/>
                <a:cs typeface="Arial"/>
                <a:sym typeface="Arial"/>
              </a:rPr>
              <a:t>different bike types available</a:t>
            </a:r>
            <a:r>
              <a:rPr i="1" lang="en" sz="1300">
                <a:solidFill>
                  <a:srgbClr val="000000"/>
                </a:solidFill>
                <a:latin typeface="Arial"/>
                <a:ea typeface="Arial"/>
                <a:cs typeface="Arial"/>
                <a:sym typeface="Arial"/>
              </a:rPr>
              <a:t> at hand while focussing on the most popular electronic bikes.</a:t>
            </a:r>
            <a:endParaRPr i="1" sz="1300">
              <a:solidFill>
                <a:srgbClr val="000000"/>
              </a:solidFill>
              <a:latin typeface="Arial"/>
              <a:ea typeface="Arial"/>
              <a:cs typeface="Arial"/>
              <a:sym typeface="Arial"/>
            </a:endParaRPr>
          </a:p>
          <a:p>
            <a:pPr indent="0" lvl="0" marL="914400" rtl="0" algn="l">
              <a:lnSpc>
                <a:spcPct val="100000"/>
              </a:lnSpc>
              <a:spcBef>
                <a:spcPts val="0"/>
              </a:spcBef>
              <a:spcAft>
                <a:spcPts val="0"/>
              </a:spcAft>
              <a:buNone/>
            </a:pPr>
            <a:r>
              <a:t/>
            </a:r>
            <a:endParaRPr i="1" sz="1200">
              <a:solidFill>
                <a:srgbClr val="000000"/>
              </a:solidFill>
              <a:latin typeface="Arial"/>
              <a:ea typeface="Arial"/>
              <a:cs typeface="Arial"/>
              <a:sym typeface="Arial"/>
            </a:endParaRPr>
          </a:p>
          <a:p>
            <a:pPr indent="0" lvl="0" marL="457200" rtl="0" algn="l">
              <a:spcBef>
                <a:spcPts val="0"/>
              </a:spcBef>
              <a:spcAft>
                <a:spcPts val="1600"/>
              </a:spcAft>
              <a:buNone/>
            </a:pPr>
            <a:r>
              <a:t/>
            </a:r>
            <a:endParaRPr/>
          </a:p>
        </p:txBody>
      </p:sp>
      <p:cxnSp>
        <p:nvCxnSpPr>
          <p:cNvPr id="242" name="Google Shape;242;p42"/>
          <p:cNvCxnSpPr/>
          <p:nvPr/>
        </p:nvCxnSpPr>
        <p:spPr>
          <a:xfrm>
            <a:off x="311700" y="1257675"/>
            <a:ext cx="3977100" cy="7500"/>
          </a:xfrm>
          <a:prstGeom prst="straightConnector1">
            <a:avLst/>
          </a:prstGeom>
          <a:noFill/>
          <a:ln cap="flat" cmpd="sng" w="9525">
            <a:solidFill>
              <a:srgbClr val="674EA7"/>
            </a:solidFill>
            <a:prstDash val="solid"/>
            <a:round/>
            <a:headEnd len="med" w="med" type="none"/>
            <a:tailEnd len="med" w="med" type="none"/>
          </a:ln>
        </p:spPr>
      </p:cxnSp>
      <p:pic>
        <p:nvPicPr>
          <p:cNvPr id="243" name="Google Shape;243;p42" title="Electric Bike.jpg"/>
          <p:cNvPicPr preferRelativeResize="0"/>
          <p:nvPr/>
        </p:nvPicPr>
        <p:blipFill>
          <a:blip r:embed="rId3">
            <a:alphaModFix/>
          </a:blip>
          <a:stretch>
            <a:fillRect/>
          </a:stretch>
        </p:blipFill>
        <p:spPr>
          <a:xfrm>
            <a:off x="6778250" y="198327"/>
            <a:ext cx="2365750" cy="1626474"/>
          </a:xfrm>
          <a:prstGeom prst="rect">
            <a:avLst/>
          </a:prstGeom>
          <a:noFill/>
          <a:ln>
            <a:noFill/>
          </a:ln>
        </p:spPr>
      </p:pic>
      <p:pic>
        <p:nvPicPr>
          <p:cNvPr id="244" name="Google Shape;244;p42" title="Scooter Bike.png"/>
          <p:cNvPicPr preferRelativeResize="0"/>
          <p:nvPr/>
        </p:nvPicPr>
        <p:blipFill>
          <a:blip r:embed="rId4">
            <a:alphaModFix/>
          </a:blip>
          <a:stretch>
            <a:fillRect/>
          </a:stretch>
        </p:blipFill>
        <p:spPr>
          <a:xfrm>
            <a:off x="6778250" y="1900036"/>
            <a:ext cx="2365751" cy="2474576"/>
          </a:xfrm>
          <a:prstGeom prst="rect">
            <a:avLst/>
          </a:prstGeom>
          <a:noFill/>
          <a:ln>
            <a:noFill/>
          </a:ln>
        </p:spPr>
      </p:pic>
      <p:pic>
        <p:nvPicPr>
          <p:cNvPr id="245" name="Google Shape;245;p42" title="Classic Bike.png"/>
          <p:cNvPicPr preferRelativeResize="0"/>
          <p:nvPr/>
        </p:nvPicPr>
        <p:blipFill>
          <a:blip r:embed="rId5">
            <a:alphaModFix/>
          </a:blip>
          <a:stretch>
            <a:fillRect/>
          </a:stretch>
        </p:blipFill>
        <p:spPr>
          <a:xfrm>
            <a:off x="4705200" y="198325"/>
            <a:ext cx="2073049" cy="1626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3"/>
          <p:cNvSpPr txBox="1"/>
          <p:nvPr>
            <p:ph idx="2" type="body"/>
          </p:nvPr>
        </p:nvSpPr>
        <p:spPr>
          <a:xfrm>
            <a:off x="5007825" y="540250"/>
            <a:ext cx="3837000" cy="4254900"/>
          </a:xfrm>
          <a:prstGeom prst="rect">
            <a:avLst/>
          </a:prstGeom>
        </p:spPr>
        <p:txBody>
          <a:bodyPr anchorCtr="0" anchor="ctr" bIns="91425" lIns="91425" spcFirstLastPara="1" rIns="91425" wrap="square" tIns="91425">
            <a:noAutofit/>
          </a:bodyPr>
          <a:lstStyle/>
          <a:p>
            <a:pPr indent="-304800" lvl="0" marL="457200" rtl="0" algn="l">
              <a:spcBef>
                <a:spcPts val="0"/>
              </a:spcBef>
              <a:spcAft>
                <a:spcPts val="0"/>
              </a:spcAft>
              <a:buSzPts val="1200"/>
              <a:buFont typeface="Roboto ExtraLight"/>
              <a:buChar char="●"/>
            </a:pPr>
            <a:r>
              <a:rPr lang="en" sz="1200">
                <a:latin typeface="Roboto ExtraLight"/>
                <a:ea typeface="Roboto ExtraLight"/>
                <a:cs typeface="Roboto ExtraLight"/>
                <a:sym typeface="Roboto ExtraLight"/>
              </a:rPr>
              <a:t>Collect and analyze demographic data (e.g., age, gender, income)</a:t>
            </a:r>
            <a:endParaRPr sz="1200">
              <a:latin typeface="Roboto ExtraLight"/>
              <a:ea typeface="Roboto ExtraLight"/>
              <a:cs typeface="Roboto ExtraLight"/>
              <a:sym typeface="Roboto ExtraLight"/>
            </a:endParaRPr>
          </a:p>
          <a:p>
            <a:pPr indent="-304800" lvl="0" marL="457200" rtl="0" algn="l">
              <a:spcBef>
                <a:spcPts val="1600"/>
              </a:spcBef>
              <a:spcAft>
                <a:spcPts val="0"/>
              </a:spcAft>
              <a:buSzPts val="1200"/>
              <a:buFont typeface="Roboto ExtraLight"/>
              <a:buChar char="●"/>
            </a:pPr>
            <a:r>
              <a:rPr lang="en" sz="1200">
                <a:latin typeface="Roboto ExtraLight"/>
                <a:ea typeface="Roboto ExtraLight"/>
                <a:cs typeface="Roboto ExtraLight"/>
                <a:sym typeface="Roboto ExtraLight"/>
              </a:rPr>
              <a:t>Conduct surveys or use data to determine the primary purpose of trips (e.g., commuting, leisure, errands)</a:t>
            </a:r>
            <a:endParaRPr sz="1200">
              <a:latin typeface="Roboto ExtraLight"/>
              <a:ea typeface="Roboto ExtraLight"/>
              <a:cs typeface="Roboto ExtraLight"/>
              <a:sym typeface="Roboto ExtraLight"/>
            </a:endParaRPr>
          </a:p>
          <a:p>
            <a:pPr indent="-304800" lvl="0" marL="457200" rtl="0" algn="l">
              <a:spcBef>
                <a:spcPts val="1600"/>
              </a:spcBef>
              <a:spcAft>
                <a:spcPts val="0"/>
              </a:spcAft>
              <a:buSzPts val="1200"/>
              <a:buFont typeface="Roboto ExtraLight"/>
              <a:buChar char="●"/>
            </a:pPr>
            <a:r>
              <a:rPr lang="en" sz="1200">
                <a:latin typeface="Roboto ExtraLight"/>
                <a:ea typeface="Roboto ExtraLight"/>
                <a:cs typeface="Roboto ExtraLight"/>
                <a:sym typeface="Roboto ExtraLight"/>
              </a:rPr>
              <a:t>Study why some casual riders do not convert to annual members and identify strategies to improve retention and reduce churn.</a:t>
            </a:r>
            <a:endParaRPr sz="1200">
              <a:latin typeface="Roboto ExtraLight"/>
              <a:ea typeface="Roboto ExtraLight"/>
              <a:cs typeface="Roboto ExtraLight"/>
              <a:sym typeface="Roboto ExtraLight"/>
            </a:endParaRPr>
          </a:p>
          <a:p>
            <a:pPr indent="-304800" lvl="0" marL="457200" rtl="0" algn="l">
              <a:spcBef>
                <a:spcPts val="1600"/>
              </a:spcBef>
              <a:spcAft>
                <a:spcPts val="0"/>
              </a:spcAft>
              <a:buSzPts val="1200"/>
              <a:buFont typeface="Roboto ExtraLight"/>
              <a:buChar char="●"/>
            </a:pPr>
            <a:r>
              <a:rPr lang="en" sz="1200">
                <a:latin typeface="Roboto ExtraLight"/>
                <a:ea typeface="Roboto ExtraLight"/>
                <a:cs typeface="Roboto ExtraLight"/>
                <a:sym typeface="Roboto ExtraLight"/>
              </a:rPr>
              <a:t>Compare Cyclistic’s performance &amp; membership with competitors in the bike-sharing market to identify areas for improvement and differentiation.</a:t>
            </a:r>
            <a:endParaRPr sz="1200">
              <a:latin typeface="Roboto ExtraLight"/>
              <a:ea typeface="Roboto ExtraLight"/>
              <a:cs typeface="Roboto ExtraLight"/>
              <a:sym typeface="Roboto ExtraLight"/>
            </a:endParaRPr>
          </a:p>
          <a:p>
            <a:pPr indent="-304800" lvl="0" marL="457200" rtl="0" algn="l">
              <a:spcBef>
                <a:spcPts val="1600"/>
              </a:spcBef>
              <a:spcAft>
                <a:spcPts val="1600"/>
              </a:spcAft>
              <a:buSzPts val="1200"/>
              <a:buFont typeface="Roboto ExtraLight"/>
              <a:buChar char="●"/>
            </a:pPr>
            <a:r>
              <a:rPr lang="en" sz="1200">
                <a:latin typeface="Roboto ExtraLight"/>
                <a:ea typeface="Roboto ExtraLight"/>
                <a:cs typeface="Roboto ExtraLight"/>
                <a:sym typeface="Roboto ExtraLight"/>
              </a:rPr>
              <a:t>Collect and analyze user feedback to identify pain points, preferences, and areas for improvement in the service.</a:t>
            </a:r>
            <a:endParaRPr sz="1200">
              <a:latin typeface="Roboto ExtraLight"/>
              <a:ea typeface="Roboto ExtraLight"/>
              <a:cs typeface="Roboto ExtraLight"/>
              <a:sym typeface="Roboto ExtraLight"/>
            </a:endParaRPr>
          </a:p>
        </p:txBody>
      </p:sp>
      <p:sp>
        <p:nvSpPr>
          <p:cNvPr id="251" name="Google Shape;251;p43"/>
          <p:cNvSpPr txBox="1"/>
          <p:nvPr>
            <p:ph type="title"/>
          </p:nvPr>
        </p:nvSpPr>
        <p:spPr>
          <a:xfrm>
            <a:off x="1089200" y="540250"/>
            <a:ext cx="2394600" cy="7326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lang="en" sz="3200" u="sng"/>
              <a:t>Future Work</a:t>
            </a:r>
            <a:endParaRPr sz="3600"/>
          </a:p>
        </p:txBody>
      </p:sp>
      <p:sp>
        <p:nvSpPr>
          <p:cNvPr id="252" name="Google Shape;252;p43"/>
          <p:cNvSpPr txBox="1"/>
          <p:nvPr/>
        </p:nvSpPr>
        <p:spPr>
          <a:xfrm>
            <a:off x="0" y="149525"/>
            <a:ext cx="15102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600"/>
              </a:spcAft>
              <a:buNone/>
            </a:pPr>
            <a:r>
              <a:rPr lang="en" sz="1800">
                <a:solidFill>
                  <a:schemeClr val="dk1"/>
                </a:solidFill>
                <a:highlight>
                  <a:srgbClr val="8E7CC3"/>
                </a:highlight>
                <a:latin typeface="Proxima Nova"/>
                <a:ea typeface="Proxima Nova"/>
                <a:cs typeface="Proxima Nova"/>
                <a:sym typeface="Proxima Nova"/>
              </a:rPr>
              <a:t>What is next?</a:t>
            </a:r>
            <a:endParaRPr sz="800">
              <a:highlight>
                <a:srgbClr val="8E7CC3"/>
              </a:highlight>
            </a:endParaRPr>
          </a:p>
        </p:txBody>
      </p:sp>
      <p:sp>
        <p:nvSpPr>
          <p:cNvPr id="253" name="Google Shape;253;p43"/>
          <p:cNvSpPr txBox="1"/>
          <p:nvPr>
            <p:ph idx="2" type="body"/>
          </p:nvPr>
        </p:nvSpPr>
        <p:spPr>
          <a:xfrm>
            <a:off x="368000" y="1595825"/>
            <a:ext cx="3837000" cy="30600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a:solidFill>
                  <a:schemeClr val="dk1"/>
                </a:solidFill>
              </a:rPr>
              <a:t>User Demographics.</a:t>
            </a:r>
            <a:endParaRPr>
              <a:solidFill>
                <a:schemeClr val="dk1"/>
              </a:solidFill>
            </a:endParaRPr>
          </a:p>
          <a:p>
            <a:pPr indent="-342900" lvl="0" marL="457200" rtl="0" algn="l">
              <a:spcBef>
                <a:spcPts val="1600"/>
              </a:spcBef>
              <a:spcAft>
                <a:spcPts val="0"/>
              </a:spcAft>
              <a:buClr>
                <a:schemeClr val="dk1"/>
              </a:buClr>
              <a:buSzPts val="1800"/>
              <a:buChar char="●"/>
            </a:pPr>
            <a:r>
              <a:rPr lang="en">
                <a:solidFill>
                  <a:schemeClr val="dk1"/>
                </a:solidFill>
              </a:rPr>
              <a:t>Trip Purpose Analysis.</a:t>
            </a:r>
            <a:endParaRPr>
              <a:solidFill>
                <a:schemeClr val="dk1"/>
              </a:solidFill>
            </a:endParaRPr>
          </a:p>
          <a:p>
            <a:pPr indent="-342900" lvl="0" marL="457200" rtl="0" algn="l">
              <a:spcBef>
                <a:spcPts val="1600"/>
              </a:spcBef>
              <a:spcAft>
                <a:spcPts val="0"/>
              </a:spcAft>
              <a:buClr>
                <a:schemeClr val="dk1"/>
              </a:buClr>
              <a:buSzPts val="1800"/>
              <a:buChar char="●"/>
            </a:pPr>
            <a:r>
              <a:rPr lang="en">
                <a:solidFill>
                  <a:schemeClr val="dk1"/>
                </a:solidFill>
              </a:rPr>
              <a:t>Customer Retention and Churn Analysis.</a:t>
            </a:r>
            <a:endParaRPr>
              <a:solidFill>
                <a:schemeClr val="dk1"/>
              </a:solidFill>
            </a:endParaRPr>
          </a:p>
          <a:p>
            <a:pPr indent="-342900" lvl="0" marL="457200" rtl="0" algn="l">
              <a:spcBef>
                <a:spcPts val="1600"/>
              </a:spcBef>
              <a:spcAft>
                <a:spcPts val="0"/>
              </a:spcAft>
              <a:buClr>
                <a:schemeClr val="dk1"/>
              </a:buClr>
              <a:buSzPts val="1800"/>
              <a:buChar char="●"/>
            </a:pPr>
            <a:r>
              <a:rPr lang="en">
                <a:solidFill>
                  <a:schemeClr val="dk1"/>
                </a:solidFill>
              </a:rPr>
              <a:t>Competitor Analysis.</a:t>
            </a:r>
            <a:endParaRPr>
              <a:solidFill>
                <a:schemeClr val="dk1"/>
              </a:solidFill>
            </a:endParaRPr>
          </a:p>
          <a:p>
            <a:pPr indent="-342900" lvl="0" marL="457200" rtl="0" algn="l">
              <a:spcBef>
                <a:spcPts val="1600"/>
              </a:spcBef>
              <a:spcAft>
                <a:spcPts val="1600"/>
              </a:spcAft>
              <a:buClr>
                <a:schemeClr val="dk1"/>
              </a:buClr>
              <a:buSzPts val="1800"/>
              <a:buChar char="●"/>
            </a:pPr>
            <a:r>
              <a:rPr lang="en">
                <a:solidFill>
                  <a:schemeClr val="dk1"/>
                </a:solidFill>
              </a:rPr>
              <a:t>User Feedback Analysis.</a:t>
            </a: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4"/>
          <p:cNvSpPr txBox="1"/>
          <p:nvPr>
            <p:ph idx="4294967295" type="title"/>
          </p:nvPr>
        </p:nvSpPr>
        <p:spPr>
          <a:xfrm>
            <a:off x="334125" y="164475"/>
            <a:ext cx="3890100" cy="5904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lang="en" sz="3200"/>
              <a:t>References/Sources</a:t>
            </a:r>
            <a:endParaRPr sz="3600"/>
          </a:p>
        </p:txBody>
      </p:sp>
      <p:pic>
        <p:nvPicPr>
          <p:cNvPr id="259" name="Google Shape;259;p44"/>
          <p:cNvPicPr preferRelativeResize="0"/>
          <p:nvPr/>
        </p:nvPicPr>
        <p:blipFill>
          <a:blip r:embed="rId3">
            <a:alphaModFix/>
          </a:blip>
          <a:stretch>
            <a:fillRect/>
          </a:stretch>
        </p:blipFill>
        <p:spPr>
          <a:xfrm>
            <a:off x="4758125" y="0"/>
            <a:ext cx="4385874" cy="2707050"/>
          </a:xfrm>
          <a:prstGeom prst="rect">
            <a:avLst/>
          </a:prstGeom>
          <a:noFill/>
          <a:ln>
            <a:noFill/>
          </a:ln>
        </p:spPr>
      </p:pic>
      <p:sp>
        <p:nvSpPr>
          <p:cNvPr id="260" name="Google Shape;260;p44"/>
          <p:cNvSpPr txBox="1"/>
          <p:nvPr>
            <p:ph idx="4294967295" type="title"/>
          </p:nvPr>
        </p:nvSpPr>
        <p:spPr>
          <a:xfrm>
            <a:off x="334125" y="2373375"/>
            <a:ext cx="2214000" cy="5904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lang="en" sz="3200"/>
              <a:t>Tools Used</a:t>
            </a:r>
            <a:endParaRPr sz="3600"/>
          </a:p>
        </p:txBody>
      </p:sp>
      <p:cxnSp>
        <p:nvCxnSpPr>
          <p:cNvPr id="261" name="Google Shape;261;p44"/>
          <p:cNvCxnSpPr/>
          <p:nvPr/>
        </p:nvCxnSpPr>
        <p:spPr>
          <a:xfrm>
            <a:off x="290625" y="667800"/>
            <a:ext cx="3977100" cy="7500"/>
          </a:xfrm>
          <a:prstGeom prst="straightConnector1">
            <a:avLst/>
          </a:prstGeom>
          <a:noFill/>
          <a:ln cap="flat" cmpd="sng" w="9525">
            <a:solidFill>
              <a:srgbClr val="674EA7"/>
            </a:solidFill>
            <a:prstDash val="solid"/>
            <a:round/>
            <a:headEnd len="med" w="med" type="none"/>
            <a:tailEnd len="med" w="med" type="none"/>
          </a:ln>
        </p:spPr>
      </p:cxnSp>
      <p:cxnSp>
        <p:nvCxnSpPr>
          <p:cNvPr id="262" name="Google Shape;262;p44"/>
          <p:cNvCxnSpPr/>
          <p:nvPr/>
        </p:nvCxnSpPr>
        <p:spPr>
          <a:xfrm>
            <a:off x="247125" y="2851750"/>
            <a:ext cx="3977100" cy="7500"/>
          </a:xfrm>
          <a:prstGeom prst="straightConnector1">
            <a:avLst/>
          </a:prstGeom>
          <a:noFill/>
          <a:ln cap="flat" cmpd="sng" w="9525">
            <a:solidFill>
              <a:srgbClr val="674EA7"/>
            </a:solidFill>
            <a:prstDash val="solid"/>
            <a:round/>
            <a:headEnd len="med" w="med" type="none"/>
            <a:tailEnd len="med" w="med" type="none"/>
          </a:ln>
        </p:spPr>
      </p:cxnSp>
      <p:pic>
        <p:nvPicPr>
          <p:cNvPr id="263" name="Google Shape;263;p44"/>
          <p:cNvPicPr preferRelativeResize="0"/>
          <p:nvPr/>
        </p:nvPicPr>
        <p:blipFill>
          <a:blip r:embed="rId4">
            <a:alphaModFix/>
          </a:blip>
          <a:stretch>
            <a:fillRect/>
          </a:stretch>
        </p:blipFill>
        <p:spPr>
          <a:xfrm>
            <a:off x="4758125" y="2817625"/>
            <a:ext cx="4385874" cy="2325875"/>
          </a:xfrm>
          <a:prstGeom prst="rect">
            <a:avLst/>
          </a:prstGeom>
          <a:noFill/>
          <a:ln>
            <a:noFill/>
          </a:ln>
        </p:spPr>
      </p:pic>
      <p:sp>
        <p:nvSpPr>
          <p:cNvPr id="264" name="Google Shape;264;p44"/>
          <p:cNvSpPr txBox="1"/>
          <p:nvPr>
            <p:ph idx="4294967295" type="body"/>
          </p:nvPr>
        </p:nvSpPr>
        <p:spPr>
          <a:xfrm>
            <a:off x="387225" y="749125"/>
            <a:ext cx="3837000" cy="12879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lang="en" sz="1500" u="sng">
                <a:solidFill>
                  <a:schemeClr val="hlink"/>
                </a:solidFill>
                <a:hlinkClick r:id="rId5"/>
              </a:rPr>
              <a:t>Data Source &amp; License.</a:t>
            </a:r>
            <a:endParaRPr sz="1500">
              <a:solidFill>
                <a:schemeClr val="dk1"/>
              </a:solidFill>
            </a:endParaRPr>
          </a:p>
          <a:p>
            <a:pPr indent="-323850" lvl="0" marL="457200" rtl="0" algn="l">
              <a:spcBef>
                <a:spcPts val="1600"/>
              </a:spcBef>
              <a:spcAft>
                <a:spcPts val="1600"/>
              </a:spcAft>
              <a:buClr>
                <a:schemeClr val="dk1"/>
              </a:buClr>
              <a:buSzPts val="1500"/>
              <a:buChar char="●"/>
            </a:pPr>
            <a:r>
              <a:rPr lang="en" sz="1500" u="sng">
                <a:solidFill>
                  <a:schemeClr val="hlink"/>
                </a:solidFill>
                <a:hlinkClick r:id="rId6"/>
              </a:rPr>
              <a:t>Kaggle Notebook.</a:t>
            </a:r>
            <a:endParaRPr sz="1500">
              <a:solidFill>
                <a:schemeClr val="dk1"/>
              </a:solidFill>
            </a:endParaRPr>
          </a:p>
        </p:txBody>
      </p:sp>
      <p:sp>
        <p:nvSpPr>
          <p:cNvPr id="265" name="Google Shape;265;p44"/>
          <p:cNvSpPr txBox="1"/>
          <p:nvPr>
            <p:ph idx="4294967295" type="body"/>
          </p:nvPr>
        </p:nvSpPr>
        <p:spPr>
          <a:xfrm>
            <a:off x="430725" y="2963775"/>
            <a:ext cx="3837000" cy="21036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lang="en" sz="1500">
                <a:solidFill>
                  <a:schemeClr val="dk1"/>
                </a:solidFill>
              </a:rPr>
              <a:t>R Programming Language: used for statistical analysis &amp; visualization</a:t>
            </a:r>
            <a:endParaRPr sz="1500">
              <a:solidFill>
                <a:schemeClr val="dk1"/>
              </a:solidFill>
            </a:endParaRPr>
          </a:p>
          <a:p>
            <a:pPr indent="-323850" lvl="0" marL="457200" rtl="0" algn="l">
              <a:spcBef>
                <a:spcPts val="1600"/>
              </a:spcBef>
              <a:spcAft>
                <a:spcPts val="0"/>
              </a:spcAft>
              <a:buClr>
                <a:schemeClr val="dk1"/>
              </a:buClr>
              <a:buSzPts val="1500"/>
              <a:buChar char="●"/>
            </a:pPr>
            <a:r>
              <a:rPr lang="en" sz="1500">
                <a:solidFill>
                  <a:schemeClr val="dk1"/>
                </a:solidFill>
              </a:rPr>
              <a:t>Kaggle Notebook: for documentation &amp; version history control.</a:t>
            </a:r>
            <a:endParaRPr sz="1500">
              <a:solidFill>
                <a:schemeClr val="dk1"/>
              </a:solidFill>
            </a:endParaRPr>
          </a:p>
          <a:p>
            <a:pPr indent="-323850" lvl="0" marL="457200" rtl="0" algn="l">
              <a:spcBef>
                <a:spcPts val="1600"/>
              </a:spcBef>
              <a:spcAft>
                <a:spcPts val="1600"/>
              </a:spcAft>
              <a:buClr>
                <a:schemeClr val="dk1"/>
              </a:buClr>
              <a:buSzPts val="1500"/>
              <a:buChar char="●"/>
            </a:pPr>
            <a:r>
              <a:rPr lang="en" sz="1500">
                <a:solidFill>
                  <a:schemeClr val="dk1"/>
                </a:solidFill>
              </a:rPr>
              <a:t>R Markdown: for R code documentation</a:t>
            </a:r>
            <a:endParaRPr sz="15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descr="A picture containing sitting&#10;&#10;Description automatically generated" id="271" name="Google Shape;271;p45"/>
          <p:cNvPicPr preferRelativeResize="0"/>
          <p:nvPr/>
        </p:nvPicPr>
        <p:blipFill rotWithShape="1">
          <a:blip r:embed="rId3">
            <a:alphaModFix/>
          </a:blip>
          <a:srcRect b="0" l="0" r="724" t="0"/>
          <a:stretch/>
        </p:blipFill>
        <p:spPr>
          <a:xfrm>
            <a:off x="6920" y="751976"/>
            <a:ext cx="9130159" cy="4108811"/>
          </a:xfrm>
          <a:prstGeom prst="rect">
            <a:avLst/>
          </a:prstGeom>
          <a:noFill/>
          <a:ln>
            <a:noFill/>
          </a:ln>
        </p:spPr>
      </p:pic>
      <p:sp>
        <p:nvSpPr>
          <p:cNvPr id="272" name="Google Shape;272;p45"/>
          <p:cNvSpPr/>
          <p:nvPr/>
        </p:nvSpPr>
        <p:spPr>
          <a:xfrm rot="10800000">
            <a:off x="-5666" y="-2941"/>
            <a:ext cx="4628550" cy="2403241"/>
          </a:xfrm>
          <a:custGeom>
            <a:rect b="b" l="l" r="r" t="t"/>
            <a:pathLst>
              <a:path extrusionOk="0" h="2174879" w="4188733">
                <a:moveTo>
                  <a:pt x="4188733" y="2174879"/>
                </a:moveTo>
                <a:lnTo>
                  <a:pt x="255305" y="2174879"/>
                </a:lnTo>
                <a:lnTo>
                  <a:pt x="231274" y="2146885"/>
                </a:lnTo>
                <a:cubicBezTo>
                  <a:pt x="46965" y="1922403"/>
                  <a:pt x="-243900" y="1435946"/>
                  <a:pt x="378146" y="1135996"/>
                </a:cubicBezTo>
                <a:cubicBezTo>
                  <a:pt x="903771" y="881338"/>
                  <a:pt x="777484" y="819810"/>
                  <a:pt x="948142" y="469441"/>
                </a:cubicBezTo>
                <a:cubicBezTo>
                  <a:pt x="1156343" y="38743"/>
                  <a:pt x="2190526" y="-282571"/>
                  <a:pt x="2622289" y="375439"/>
                </a:cubicBezTo>
                <a:cubicBezTo>
                  <a:pt x="2939711" y="860828"/>
                  <a:pt x="3120608" y="850574"/>
                  <a:pt x="3352702" y="765118"/>
                </a:cubicBezTo>
                <a:cubicBezTo>
                  <a:pt x="3618927" y="667698"/>
                  <a:pt x="3849314" y="457477"/>
                  <a:pt x="4166737" y="602752"/>
                </a:cubicBezTo>
                <a:lnTo>
                  <a:pt x="4188733" y="615338"/>
                </a:lnTo>
                <a:close/>
              </a:path>
            </a:pathLst>
          </a:custGeom>
          <a:solidFill>
            <a:srgbClr val="EF4B3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3" name="Google Shape;273;p45"/>
          <p:cNvSpPr/>
          <p:nvPr/>
        </p:nvSpPr>
        <p:spPr>
          <a:xfrm flipH="1" rot="10800000">
            <a:off x="4803656" y="922731"/>
            <a:ext cx="4333424" cy="3444932"/>
          </a:xfrm>
          <a:custGeom>
            <a:rect b="b" l="l" r="r" t="t"/>
            <a:pathLst>
              <a:path extrusionOk="0" h="4593243" w="5777898">
                <a:moveTo>
                  <a:pt x="5221673" y="4591517"/>
                </a:moveTo>
                <a:cubicBezTo>
                  <a:pt x="5414148" y="4582423"/>
                  <a:pt x="5605290" y="4537867"/>
                  <a:pt x="5777253" y="4468718"/>
                </a:cubicBezTo>
                <a:lnTo>
                  <a:pt x="5777898" y="4468417"/>
                </a:lnTo>
                <a:lnTo>
                  <a:pt x="5777898" y="894132"/>
                </a:lnTo>
                <a:lnTo>
                  <a:pt x="5720653" y="857798"/>
                </a:lnTo>
                <a:cubicBezTo>
                  <a:pt x="5686733" y="838267"/>
                  <a:pt x="5650989" y="819701"/>
                  <a:pt x="5613222" y="802354"/>
                </a:cubicBezTo>
                <a:cubicBezTo>
                  <a:pt x="5190685" y="608971"/>
                  <a:pt x="4884003" y="888808"/>
                  <a:pt x="4529617" y="1018489"/>
                </a:cubicBezTo>
                <a:cubicBezTo>
                  <a:pt x="4220665" y="1132244"/>
                  <a:pt x="3979864" y="1145894"/>
                  <a:pt x="3557325" y="499766"/>
                </a:cubicBezTo>
                <a:cubicBezTo>
                  <a:pt x="2982584" y="-376146"/>
                  <a:pt x="1605927" y="51572"/>
                  <a:pt x="1328779" y="624898"/>
                </a:cubicBezTo>
                <a:cubicBezTo>
                  <a:pt x="1101607" y="1091291"/>
                  <a:pt x="1269714" y="1173196"/>
                  <a:pt x="570029" y="1512185"/>
                </a:cubicBezTo>
                <a:cubicBezTo>
                  <a:pt x="501027" y="1545457"/>
                  <a:pt x="440461" y="1580455"/>
                  <a:pt x="387552" y="1616832"/>
                </a:cubicBezTo>
                <a:lnTo>
                  <a:pt x="369717" y="1631577"/>
                </a:lnTo>
                <a:lnTo>
                  <a:pt x="354164" y="1638819"/>
                </a:lnTo>
                <a:cubicBezTo>
                  <a:pt x="-353597" y="2066215"/>
                  <a:pt x="64364" y="3375685"/>
                  <a:pt x="1033390" y="3051484"/>
                </a:cubicBezTo>
                <a:cubicBezTo>
                  <a:pt x="1419580" y="2924078"/>
                  <a:pt x="1505905" y="3513328"/>
                  <a:pt x="2110179" y="3790890"/>
                </a:cubicBezTo>
                <a:cubicBezTo>
                  <a:pt x="2532716" y="3984273"/>
                  <a:pt x="2839397" y="3704436"/>
                  <a:pt x="3193783" y="3574757"/>
                </a:cubicBezTo>
                <a:cubicBezTo>
                  <a:pt x="3502736" y="3461000"/>
                  <a:pt x="3743537" y="3447350"/>
                  <a:pt x="4166075" y="4093478"/>
                </a:cubicBezTo>
                <a:cubicBezTo>
                  <a:pt x="4417524" y="4476689"/>
                  <a:pt x="4822467" y="4610377"/>
                  <a:pt x="5221673" y="4591517"/>
                </a:cubicBezTo>
                <a:close/>
              </a:path>
            </a:pathLst>
          </a:custGeom>
          <a:solidFill>
            <a:srgbClr val="EF4B3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nvGrpSpPr>
          <p:cNvPr id="274" name="Google Shape;274;p45"/>
          <p:cNvGrpSpPr/>
          <p:nvPr/>
        </p:nvGrpSpPr>
        <p:grpSpPr>
          <a:xfrm>
            <a:off x="1708898" y="1093484"/>
            <a:ext cx="4400867" cy="3747403"/>
            <a:chOff x="1776865" y="3679825"/>
            <a:chExt cx="3143252" cy="2676525"/>
          </a:xfrm>
        </p:grpSpPr>
        <p:sp>
          <p:nvSpPr>
            <p:cNvPr id="275" name="Google Shape;275;p45"/>
            <p:cNvSpPr/>
            <p:nvPr/>
          </p:nvSpPr>
          <p:spPr>
            <a:xfrm>
              <a:off x="3380241" y="5624513"/>
              <a:ext cx="133350" cy="255588"/>
            </a:xfrm>
            <a:custGeom>
              <a:rect b="b" l="l" r="r" t="t"/>
              <a:pathLst>
                <a:path extrusionOk="0" h="161" w="84">
                  <a:moveTo>
                    <a:pt x="84" y="15"/>
                  </a:moveTo>
                  <a:lnTo>
                    <a:pt x="78" y="0"/>
                  </a:lnTo>
                  <a:lnTo>
                    <a:pt x="0" y="28"/>
                  </a:lnTo>
                  <a:lnTo>
                    <a:pt x="5" y="43"/>
                  </a:lnTo>
                  <a:lnTo>
                    <a:pt x="13" y="39"/>
                  </a:lnTo>
                  <a:lnTo>
                    <a:pt x="43" y="161"/>
                  </a:lnTo>
                  <a:lnTo>
                    <a:pt x="58" y="159"/>
                  </a:lnTo>
                  <a:lnTo>
                    <a:pt x="28" y="35"/>
                  </a:lnTo>
                  <a:lnTo>
                    <a:pt x="84" y="15"/>
                  </a:lnTo>
                  <a:close/>
                </a:path>
              </a:pathLst>
            </a:custGeom>
            <a:solidFill>
              <a:srgbClr val="3B284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6" name="Google Shape;276;p45"/>
            <p:cNvSpPr/>
            <p:nvPr/>
          </p:nvSpPr>
          <p:spPr>
            <a:xfrm>
              <a:off x="2699204" y="4189413"/>
              <a:ext cx="58738" cy="160338"/>
            </a:xfrm>
            <a:custGeom>
              <a:rect b="b" l="l" r="r" t="t"/>
              <a:pathLst>
                <a:path extrusionOk="0" h="47" w="17">
                  <a:moveTo>
                    <a:pt x="15" y="47"/>
                  </a:moveTo>
                  <a:cubicBezTo>
                    <a:pt x="6" y="39"/>
                    <a:pt x="0" y="2"/>
                    <a:pt x="0" y="0"/>
                  </a:cubicBezTo>
                  <a:cubicBezTo>
                    <a:pt x="3" y="0"/>
                    <a:pt x="3" y="0"/>
                    <a:pt x="3" y="0"/>
                  </a:cubicBezTo>
                  <a:cubicBezTo>
                    <a:pt x="3" y="0"/>
                    <a:pt x="9" y="38"/>
                    <a:pt x="17" y="45"/>
                  </a:cubicBezTo>
                  <a:lnTo>
                    <a:pt x="15" y="47"/>
                  </a:lnTo>
                  <a:close/>
                </a:path>
              </a:pathLst>
            </a:custGeom>
            <a:solidFill>
              <a:srgbClr val="000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7" name="Google Shape;277;p45"/>
            <p:cNvSpPr/>
            <p:nvPr/>
          </p:nvSpPr>
          <p:spPr>
            <a:xfrm>
              <a:off x="3040516" y="4743450"/>
              <a:ext cx="523875" cy="915988"/>
            </a:xfrm>
            <a:custGeom>
              <a:rect b="b" l="l" r="r" t="t"/>
              <a:pathLst>
                <a:path extrusionOk="0" h="269" w="154">
                  <a:moveTo>
                    <a:pt x="56" y="0"/>
                  </a:moveTo>
                  <a:cubicBezTo>
                    <a:pt x="56" y="0"/>
                    <a:pt x="0" y="24"/>
                    <a:pt x="0" y="39"/>
                  </a:cubicBezTo>
                  <a:cubicBezTo>
                    <a:pt x="0" y="54"/>
                    <a:pt x="124" y="215"/>
                    <a:pt x="124" y="215"/>
                  </a:cubicBezTo>
                  <a:cubicBezTo>
                    <a:pt x="124" y="215"/>
                    <a:pt x="131" y="242"/>
                    <a:pt x="110" y="251"/>
                  </a:cubicBezTo>
                  <a:cubicBezTo>
                    <a:pt x="89" y="259"/>
                    <a:pt x="103" y="269"/>
                    <a:pt x="103" y="269"/>
                  </a:cubicBezTo>
                  <a:cubicBezTo>
                    <a:pt x="144" y="261"/>
                    <a:pt x="144" y="261"/>
                    <a:pt x="144" y="261"/>
                  </a:cubicBezTo>
                  <a:cubicBezTo>
                    <a:pt x="154" y="221"/>
                    <a:pt x="154" y="221"/>
                    <a:pt x="154" y="221"/>
                  </a:cubicBezTo>
                  <a:cubicBezTo>
                    <a:pt x="154" y="191"/>
                    <a:pt x="154" y="191"/>
                    <a:pt x="154" y="191"/>
                  </a:cubicBezTo>
                  <a:cubicBezTo>
                    <a:pt x="137" y="183"/>
                    <a:pt x="137" y="183"/>
                    <a:pt x="137" y="183"/>
                  </a:cubicBezTo>
                  <a:cubicBezTo>
                    <a:pt x="137" y="183"/>
                    <a:pt x="105" y="120"/>
                    <a:pt x="97" y="88"/>
                  </a:cubicBezTo>
                  <a:cubicBezTo>
                    <a:pt x="89" y="55"/>
                    <a:pt x="56" y="50"/>
                    <a:pt x="56" y="50"/>
                  </a:cubicBezTo>
                  <a:cubicBezTo>
                    <a:pt x="97" y="33"/>
                    <a:pt x="97" y="33"/>
                    <a:pt x="97" y="33"/>
                  </a:cubicBezTo>
                  <a:lnTo>
                    <a:pt x="56" y="0"/>
                  </a:lnTo>
                  <a:close/>
                </a:path>
              </a:pathLst>
            </a:custGeom>
            <a:solidFill>
              <a:srgbClr val="FAA06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8" name="Google Shape;278;p45"/>
            <p:cNvSpPr/>
            <p:nvPr/>
          </p:nvSpPr>
          <p:spPr>
            <a:xfrm>
              <a:off x="3302454" y="5353050"/>
              <a:ext cx="354013" cy="342900"/>
            </a:xfrm>
            <a:custGeom>
              <a:rect b="b" l="l" r="r" t="t"/>
              <a:pathLst>
                <a:path extrusionOk="0" h="101" w="104">
                  <a:moveTo>
                    <a:pt x="104" y="32"/>
                  </a:moveTo>
                  <a:cubicBezTo>
                    <a:pt x="104" y="32"/>
                    <a:pt x="88" y="47"/>
                    <a:pt x="77" y="57"/>
                  </a:cubicBezTo>
                  <a:cubicBezTo>
                    <a:pt x="66" y="67"/>
                    <a:pt x="49" y="85"/>
                    <a:pt x="43" y="90"/>
                  </a:cubicBezTo>
                  <a:cubicBezTo>
                    <a:pt x="38" y="95"/>
                    <a:pt x="6" y="101"/>
                    <a:pt x="3" y="95"/>
                  </a:cubicBezTo>
                  <a:cubicBezTo>
                    <a:pt x="0" y="90"/>
                    <a:pt x="20" y="74"/>
                    <a:pt x="25" y="60"/>
                  </a:cubicBezTo>
                  <a:cubicBezTo>
                    <a:pt x="30" y="47"/>
                    <a:pt x="33" y="15"/>
                    <a:pt x="38" y="16"/>
                  </a:cubicBezTo>
                  <a:cubicBezTo>
                    <a:pt x="43" y="16"/>
                    <a:pt x="56" y="0"/>
                    <a:pt x="62" y="0"/>
                  </a:cubicBezTo>
                  <a:cubicBezTo>
                    <a:pt x="69" y="1"/>
                    <a:pt x="104" y="27"/>
                    <a:pt x="104" y="32"/>
                  </a:cubicBezTo>
                  <a:close/>
                </a:path>
              </a:pathLst>
            </a:custGeom>
            <a:solidFill>
              <a:srgbClr val="7274C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9" name="Google Shape;279;p45"/>
            <p:cNvSpPr/>
            <p:nvPr/>
          </p:nvSpPr>
          <p:spPr>
            <a:xfrm>
              <a:off x="3346904" y="5448300"/>
              <a:ext cx="273050" cy="217488"/>
            </a:xfrm>
            <a:custGeom>
              <a:rect b="b" l="l" r="r" t="t"/>
              <a:pathLst>
                <a:path extrusionOk="0" h="64" w="80">
                  <a:moveTo>
                    <a:pt x="80" y="0"/>
                  </a:moveTo>
                  <a:cubicBezTo>
                    <a:pt x="29" y="34"/>
                    <a:pt x="54" y="36"/>
                    <a:pt x="0" y="64"/>
                  </a:cubicBezTo>
                  <a:cubicBezTo>
                    <a:pt x="14" y="59"/>
                    <a:pt x="34" y="49"/>
                    <a:pt x="43" y="36"/>
                  </a:cubicBezTo>
                  <a:cubicBezTo>
                    <a:pt x="48" y="29"/>
                    <a:pt x="54" y="23"/>
                    <a:pt x="61" y="17"/>
                  </a:cubicBezTo>
                  <a:cubicBezTo>
                    <a:pt x="67" y="12"/>
                    <a:pt x="74" y="6"/>
                    <a:pt x="80" y="0"/>
                  </a:cubicBezTo>
                  <a:close/>
                </a:path>
              </a:pathLst>
            </a:custGeom>
            <a:solidFill>
              <a:srgbClr val="2B327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0" name="Google Shape;280;p45"/>
            <p:cNvSpPr/>
            <p:nvPr/>
          </p:nvSpPr>
          <p:spPr>
            <a:xfrm>
              <a:off x="3397704" y="5495925"/>
              <a:ext cx="82550" cy="26988"/>
            </a:xfrm>
            <a:custGeom>
              <a:rect b="b" l="l" r="r" t="t"/>
              <a:pathLst>
                <a:path extrusionOk="0" h="8" w="24">
                  <a:moveTo>
                    <a:pt x="24" y="2"/>
                  </a:moveTo>
                  <a:cubicBezTo>
                    <a:pt x="24" y="3"/>
                    <a:pt x="23" y="4"/>
                    <a:pt x="22" y="5"/>
                  </a:cubicBezTo>
                  <a:cubicBezTo>
                    <a:pt x="18" y="5"/>
                    <a:pt x="8" y="6"/>
                    <a:pt x="0" y="8"/>
                  </a:cubicBezTo>
                  <a:cubicBezTo>
                    <a:pt x="0" y="6"/>
                    <a:pt x="1" y="4"/>
                    <a:pt x="1" y="3"/>
                  </a:cubicBezTo>
                  <a:cubicBezTo>
                    <a:pt x="11" y="0"/>
                    <a:pt x="21" y="0"/>
                    <a:pt x="22" y="0"/>
                  </a:cubicBezTo>
                  <a:cubicBezTo>
                    <a:pt x="23" y="0"/>
                    <a:pt x="24" y="1"/>
                    <a:pt x="24" y="2"/>
                  </a:cubicBezTo>
                  <a:close/>
                </a:path>
              </a:pathLst>
            </a:custGeom>
            <a:solidFill>
              <a:srgbClr val="2B327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1" name="Google Shape;281;p45"/>
            <p:cNvSpPr/>
            <p:nvPr/>
          </p:nvSpPr>
          <p:spPr>
            <a:xfrm>
              <a:off x="3408816" y="5451475"/>
              <a:ext cx="60325" cy="26988"/>
            </a:xfrm>
            <a:custGeom>
              <a:rect b="b" l="l" r="r" t="t"/>
              <a:pathLst>
                <a:path extrusionOk="0" h="8" w="18">
                  <a:moveTo>
                    <a:pt x="17" y="6"/>
                  </a:moveTo>
                  <a:cubicBezTo>
                    <a:pt x="17" y="7"/>
                    <a:pt x="16" y="8"/>
                    <a:pt x="14" y="7"/>
                  </a:cubicBezTo>
                  <a:cubicBezTo>
                    <a:pt x="14" y="7"/>
                    <a:pt x="8" y="5"/>
                    <a:pt x="0" y="5"/>
                  </a:cubicBezTo>
                  <a:cubicBezTo>
                    <a:pt x="1" y="3"/>
                    <a:pt x="1" y="2"/>
                    <a:pt x="1" y="0"/>
                  </a:cubicBezTo>
                  <a:cubicBezTo>
                    <a:pt x="9" y="1"/>
                    <a:pt x="15" y="3"/>
                    <a:pt x="16" y="3"/>
                  </a:cubicBezTo>
                  <a:cubicBezTo>
                    <a:pt x="17" y="3"/>
                    <a:pt x="18" y="5"/>
                    <a:pt x="17" y="6"/>
                  </a:cubicBezTo>
                  <a:close/>
                </a:path>
              </a:pathLst>
            </a:custGeom>
            <a:solidFill>
              <a:srgbClr val="2B327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2" name="Google Shape;282;p45"/>
            <p:cNvSpPr/>
            <p:nvPr/>
          </p:nvSpPr>
          <p:spPr>
            <a:xfrm>
              <a:off x="2543629" y="3886200"/>
              <a:ext cx="312738" cy="401638"/>
            </a:xfrm>
            <a:custGeom>
              <a:rect b="b" l="l" r="r" t="t"/>
              <a:pathLst>
                <a:path extrusionOk="0" h="118" w="92">
                  <a:moveTo>
                    <a:pt x="11" y="10"/>
                  </a:moveTo>
                  <a:cubicBezTo>
                    <a:pt x="10" y="12"/>
                    <a:pt x="0" y="34"/>
                    <a:pt x="2" y="44"/>
                  </a:cubicBezTo>
                  <a:cubicBezTo>
                    <a:pt x="5" y="54"/>
                    <a:pt x="18" y="62"/>
                    <a:pt x="17" y="65"/>
                  </a:cubicBezTo>
                  <a:cubicBezTo>
                    <a:pt x="16" y="69"/>
                    <a:pt x="14" y="79"/>
                    <a:pt x="9" y="85"/>
                  </a:cubicBezTo>
                  <a:cubicBezTo>
                    <a:pt x="9" y="85"/>
                    <a:pt x="10" y="88"/>
                    <a:pt x="17" y="87"/>
                  </a:cubicBezTo>
                  <a:cubicBezTo>
                    <a:pt x="17" y="87"/>
                    <a:pt x="19" y="91"/>
                    <a:pt x="18" y="93"/>
                  </a:cubicBezTo>
                  <a:cubicBezTo>
                    <a:pt x="17" y="96"/>
                    <a:pt x="18" y="97"/>
                    <a:pt x="19" y="97"/>
                  </a:cubicBezTo>
                  <a:cubicBezTo>
                    <a:pt x="20" y="98"/>
                    <a:pt x="22" y="98"/>
                    <a:pt x="22" y="98"/>
                  </a:cubicBezTo>
                  <a:cubicBezTo>
                    <a:pt x="26" y="101"/>
                    <a:pt x="26" y="101"/>
                    <a:pt x="26" y="101"/>
                  </a:cubicBezTo>
                  <a:cubicBezTo>
                    <a:pt x="26" y="101"/>
                    <a:pt x="25" y="102"/>
                    <a:pt x="26" y="104"/>
                  </a:cubicBezTo>
                  <a:cubicBezTo>
                    <a:pt x="28" y="106"/>
                    <a:pt x="31" y="105"/>
                    <a:pt x="31" y="105"/>
                  </a:cubicBezTo>
                  <a:cubicBezTo>
                    <a:pt x="31" y="105"/>
                    <a:pt x="33" y="105"/>
                    <a:pt x="35" y="109"/>
                  </a:cubicBezTo>
                  <a:cubicBezTo>
                    <a:pt x="37" y="112"/>
                    <a:pt x="39" y="118"/>
                    <a:pt x="53" y="114"/>
                  </a:cubicBezTo>
                  <a:cubicBezTo>
                    <a:pt x="63" y="110"/>
                    <a:pt x="90" y="84"/>
                    <a:pt x="91" y="67"/>
                  </a:cubicBezTo>
                  <a:cubicBezTo>
                    <a:pt x="92" y="53"/>
                    <a:pt x="78" y="22"/>
                    <a:pt x="71" y="18"/>
                  </a:cubicBezTo>
                  <a:cubicBezTo>
                    <a:pt x="62" y="12"/>
                    <a:pt x="18" y="0"/>
                    <a:pt x="11" y="10"/>
                  </a:cubicBezTo>
                  <a:close/>
                </a:path>
              </a:pathLst>
            </a:custGeom>
            <a:solidFill>
              <a:srgbClr val="FBB894"/>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3" name="Google Shape;283;p45"/>
            <p:cNvSpPr/>
            <p:nvPr/>
          </p:nvSpPr>
          <p:spPr>
            <a:xfrm>
              <a:off x="2618241" y="4206875"/>
              <a:ext cx="30163" cy="23813"/>
            </a:xfrm>
            <a:custGeom>
              <a:rect b="b" l="l" r="r" t="t"/>
              <a:pathLst>
                <a:path extrusionOk="0" h="7" w="9">
                  <a:moveTo>
                    <a:pt x="9" y="0"/>
                  </a:moveTo>
                  <a:cubicBezTo>
                    <a:pt x="9" y="0"/>
                    <a:pt x="8" y="4"/>
                    <a:pt x="4" y="7"/>
                  </a:cubicBezTo>
                  <a:cubicBezTo>
                    <a:pt x="0" y="4"/>
                    <a:pt x="0" y="4"/>
                    <a:pt x="0" y="4"/>
                  </a:cubicBezTo>
                  <a:cubicBezTo>
                    <a:pt x="0" y="4"/>
                    <a:pt x="7" y="3"/>
                    <a:pt x="9" y="0"/>
                  </a:cubicBezTo>
                  <a:close/>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4" name="Google Shape;284;p45"/>
            <p:cNvSpPr/>
            <p:nvPr/>
          </p:nvSpPr>
          <p:spPr>
            <a:xfrm>
              <a:off x="3411991" y="5927725"/>
              <a:ext cx="960438" cy="234950"/>
            </a:xfrm>
            <a:custGeom>
              <a:rect b="b" l="l" r="r" t="t"/>
              <a:pathLst>
                <a:path extrusionOk="0" h="148" w="605">
                  <a:moveTo>
                    <a:pt x="2" y="148"/>
                  </a:moveTo>
                  <a:lnTo>
                    <a:pt x="0" y="141"/>
                  </a:lnTo>
                  <a:lnTo>
                    <a:pt x="603" y="0"/>
                  </a:lnTo>
                  <a:lnTo>
                    <a:pt x="605" y="6"/>
                  </a:lnTo>
                  <a:lnTo>
                    <a:pt x="2" y="148"/>
                  </a:lnTo>
                  <a:close/>
                </a:path>
              </a:pathLst>
            </a:custGeom>
            <a:solidFill>
              <a:srgbClr val="3B284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5" name="Google Shape;285;p45"/>
            <p:cNvSpPr/>
            <p:nvPr/>
          </p:nvSpPr>
          <p:spPr>
            <a:xfrm>
              <a:off x="3370716" y="5675313"/>
              <a:ext cx="998538" cy="88900"/>
            </a:xfrm>
            <a:custGeom>
              <a:rect b="b" l="l" r="r" t="t"/>
              <a:pathLst>
                <a:path extrusionOk="0" h="56" w="629">
                  <a:moveTo>
                    <a:pt x="0" y="56"/>
                  </a:moveTo>
                  <a:lnTo>
                    <a:pt x="0" y="50"/>
                  </a:lnTo>
                  <a:lnTo>
                    <a:pt x="629" y="0"/>
                  </a:lnTo>
                  <a:lnTo>
                    <a:pt x="629" y="7"/>
                  </a:lnTo>
                  <a:lnTo>
                    <a:pt x="0" y="56"/>
                  </a:lnTo>
                  <a:close/>
                </a:path>
              </a:pathLst>
            </a:custGeom>
            <a:solidFill>
              <a:srgbClr val="3B284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6" name="Google Shape;286;p45"/>
            <p:cNvSpPr/>
            <p:nvPr/>
          </p:nvSpPr>
          <p:spPr>
            <a:xfrm>
              <a:off x="3231016" y="5737225"/>
              <a:ext cx="419100" cy="419100"/>
            </a:xfrm>
            <a:prstGeom prst="ellipse">
              <a:avLst/>
            </a:prstGeom>
            <a:solidFill>
              <a:srgbClr val="3B3E9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7" name="Google Shape;287;p45"/>
            <p:cNvSpPr/>
            <p:nvPr/>
          </p:nvSpPr>
          <p:spPr>
            <a:xfrm>
              <a:off x="1776865" y="5254624"/>
              <a:ext cx="1103314" cy="1101726"/>
            </a:xfrm>
            <a:custGeom>
              <a:rect b="b" l="l" r="r" t="t"/>
              <a:pathLst>
                <a:path extrusionOk="0" h="1101726" w="1103314">
                  <a:moveTo>
                    <a:pt x="553244" y="57150"/>
                  </a:moveTo>
                  <a:cubicBezTo>
                    <a:pt x="279259" y="57150"/>
                    <a:pt x="57150" y="278903"/>
                    <a:pt x="57150" y="552450"/>
                  </a:cubicBezTo>
                  <a:cubicBezTo>
                    <a:pt x="57150" y="825997"/>
                    <a:pt x="279259" y="1047750"/>
                    <a:pt x="553244" y="1047750"/>
                  </a:cubicBezTo>
                  <a:cubicBezTo>
                    <a:pt x="827229" y="1047750"/>
                    <a:pt x="1049338" y="825997"/>
                    <a:pt x="1049338" y="552450"/>
                  </a:cubicBezTo>
                  <a:cubicBezTo>
                    <a:pt x="1049338" y="278903"/>
                    <a:pt x="827229" y="57150"/>
                    <a:pt x="553244" y="57150"/>
                  </a:cubicBezTo>
                  <a:close/>
                  <a:moveTo>
                    <a:pt x="551657" y="0"/>
                  </a:moveTo>
                  <a:cubicBezTo>
                    <a:pt x="856329" y="0"/>
                    <a:pt x="1103314" y="246630"/>
                    <a:pt x="1103314" y="550863"/>
                  </a:cubicBezTo>
                  <a:cubicBezTo>
                    <a:pt x="1103314" y="855096"/>
                    <a:pt x="856329" y="1101726"/>
                    <a:pt x="551657" y="1101726"/>
                  </a:cubicBezTo>
                  <a:cubicBezTo>
                    <a:pt x="246985" y="1101726"/>
                    <a:pt x="0" y="855096"/>
                    <a:pt x="0" y="550863"/>
                  </a:cubicBezTo>
                  <a:cubicBezTo>
                    <a:pt x="0" y="246630"/>
                    <a:pt x="246985" y="0"/>
                    <a:pt x="551657" y="0"/>
                  </a:cubicBezTo>
                  <a:close/>
                </a:path>
              </a:pathLst>
            </a:custGeom>
            <a:solidFill>
              <a:srgbClr val="0C0C0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8" name="Google Shape;288;p45"/>
            <p:cNvSpPr/>
            <p:nvPr/>
          </p:nvSpPr>
          <p:spPr>
            <a:xfrm>
              <a:off x="2202316" y="5680075"/>
              <a:ext cx="252300" cy="250800"/>
            </a:xfrm>
            <a:prstGeom prst="ellipse">
              <a:avLst/>
            </a:prstGeom>
            <a:solidFill>
              <a:srgbClr val="2C255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9" name="Google Shape;289;p45"/>
            <p:cNvSpPr/>
            <p:nvPr/>
          </p:nvSpPr>
          <p:spPr>
            <a:xfrm>
              <a:off x="2324554" y="5394325"/>
              <a:ext cx="415925" cy="822325"/>
            </a:xfrm>
            <a:custGeom>
              <a:rect b="b" l="l" r="r" t="t"/>
              <a:pathLst>
                <a:path extrusionOk="0" h="242" w="122">
                  <a:moveTo>
                    <a:pt x="1" y="242"/>
                  </a:moveTo>
                  <a:cubicBezTo>
                    <a:pt x="1" y="242"/>
                    <a:pt x="0" y="242"/>
                    <a:pt x="0" y="242"/>
                  </a:cubicBezTo>
                  <a:cubicBezTo>
                    <a:pt x="0" y="241"/>
                    <a:pt x="1" y="241"/>
                    <a:pt x="1" y="241"/>
                  </a:cubicBezTo>
                  <a:cubicBezTo>
                    <a:pt x="67" y="241"/>
                    <a:pt x="121" y="187"/>
                    <a:pt x="121" y="121"/>
                  </a:cubicBezTo>
                  <a:cubicBezTo>
                    <a:pt x="121" y="56"/>
                    <a:pt x="67" y="2"/>
                    <a:pt x="1" y="2"/>
                  </a:cubicBezTo>
                  <a:cubicBezTo>
                    <a:pt x="1" y="2"/>
                    <a:pt x="0" y="2"/>
                    <a:pt x="0" y="1"/>
                  </a:cubicBezTo>
                  <a:cubicBezTo>
                    <a:pt x="0" y="1"/>
                    <a:pt x="1" y="0"/>
                    <a:pt x="1" y="0"/>
                  </a:cubicBezTo>
                  <a:cubicBezTo>
                    <a:pt x="68" y="0"/>
                    <a:pt x="122" y="55"/>
                    <a:pt x="122" y="121"/>
                  </a:cubicBezTo>
                  <a:cubicBezTo>
                    <a:pt x="122" y="188"/>
                    <a:pt x="68" y="242"/>
                    <a:pt x="1" y="242"/>
                  </a:cubicBezTo>
                  <a:close/>
                </a:path>
              </a:pathLst>
            </a:custGeom>
            <a:solidFill>
              <a:srgbClr val="34437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0" name="Google Shape;290;p45"/>
            <p:cNvSpPr/>
            <p:nvPr/>
          </p:nvSpPr>
          <p:spPr>
            <a:xfrm>
              <a:off x="2365829" y="5475288"/>
              <a:ext cx="336550" cy="660400"/>
            </a:xfrm>
            <a:custGeom>
              <a:rect b="b" l="l" r="r" t="t"/>
              <a:pathLst>
                <a:path extrusionOk="0" h="194" w="99">
                  <a:moveTo>
                    <a:pt x="1" y="194"/>
                  </a:moveTo>
                  <a:cubicBezTo>
                    <a:pt x="1" y="194"/>
                    <a:pt x="0" y="194"/>
                    <a:pt x="0" y="194"/>
                  </a:cubicBezTo>
                  <a:cubicBezTo>
                    <a:pt x="0" y="193"/>
                    <a:pt x="1" y="193"/>
                    <a:pt x="1" y="193"/>
                  </a:cubicBezTo>
                  <a:cubicBezTo>
                    <a:pt x="54" y="193"/>
                    <a:pt x="97" y="150"/>
                    <a:pt x="97" y="97"/>
                  </a:cubicBezTo>
                  <a:cubicBezTo>
                    <a:pt x="97" y="45"/>
                    <a:pt x="54" y="2"/>
                    <a:pt x="1" y="2"/>
                  </a:cubicBezTo>
                  <a:cubicBezTo>
                    <a:pt x="1" y="2"/>
                    <a:pt x="0" y="2"/>
                    <a:pt x="0" y="1"/>
                  </a:cubicBezTo>
                  <a:cubicBezTo>
                    <a:pt x="0" y="1"/>
                    <a:pt x="1" y="0"/>
                    <a:pt x="1" y="0"/>
                  </a:cubicBezTo>
                  <a:cubicBezTo>
                    <a:pt x="55" y="0"/>
                    <a:pt x="99" y="44"/>
                    <a:pt x="99" y="97"/>
                  </a:cubicBezTo>
                  <a:cubicBezTo>
                    <a:pt x="99" y="151"/>
                    <a:pt x="55" y="194"/>
                    <a:pt x="1" y="194"/>
                  </a:cubicBezTo>
                  <a:close/>
                </a:path>
              </a:pathLst>
            </a:custGeom>
            <a:solidFill>
              <a:srgbClr val="34437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1" name="Google Shape;291;p45"/>
            <p:cNvSpPr/>
            <p:nvPr/>
          </p:nvSpPr>
          <p:spPr>
            <a:xfrm>
              <a:off x="3819979" y="5254624"/>
              <a:ext cx="1100138" cy="1101726"/>
            </a:xfrm>
            <a:custGeom>
              <a:rect b="b" l="l" r="r" t="t"/>
              <a:pathLst>
                <a:path extrusionOk="0" h="1101726" w="1100138">
                  <a:moveTo>
                    <a:pt x="550862" y="57150"/>
                  </a:moveTo>
                  <a:cubicBezTo>
                    <a:pt x="277315" y="57150"/>
                    <a:pt x="55562" y="278903"/>
                    <a:pt x="55562" y="552450"/>
                  </a:cubicBezTo>
                  <a:cubicBezTo>
                    <a:pt x="55562" y="825997"/>
                    <a:pt x="277315" y="1047750"/>
                    <a:pt x="550862" y="1047750"/>
                  </a:cubicBezTo>
                  <a:cubicBezTo>
                    <a:pt x="824409" y="1047750"/>
                    <a:pt x="1046162" y="825997"/>
                    <a:pt x="1046162" y="552450"/>
                  </a:cubicBezTo>
                  <a:cubicBezTo>
                    <a:pt x="1046162" y="278903"/>
                    <a:pt x="824409" y="57150"/>
                    <a:pt x="550862" y="57150"/>
                  </a:cubicBezTo>
                  <a:close/>
                  <a:moveTo>
                    <a:pt x="550069" y="0"/>
                  </a:moveTo>
                  <a:cubicBezTo>
                    <a:pt x="853864" y="0"/>
                    <a:pt x="1100138" y="246630"/>
                    <a:pt x="1100138" y="550863"/>
                  </a:cubicBezTo>
                  <a:cubicBezTo>
                    <a:pt x="1100138" y="855096"/>
                    <a:pt x="853864" y="1101726"/>
                    <a:pt x="550069" y="1101726"/>
                  </a:cubicBezTo>
                  <a:cubicBezTo>
                    <a:pt x="246274" y="1101726"/>
                    <a:pt x="0" y="855096"/>
                    <a:pt x="0" y="550863"/>
                  </a:cubicBezTo>
                  <a:cubicBezTo>
                    <a:pt x="0" y="246630"/>
                    <a:pt x="246274" y="0"/>
                    <a:pt x="550069" y="0"/>
                  </a:cubicBezTo>
                  <a:close/>
                </a:path>
              </a:pathLst>
            </a:custGeom>
            <a:solidFill>
              <a:srgbClr val="0C0C0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2" name="Google Shape;292;p45"/>
            <p:cNvSpPr/>
            <p:nvPr/>
          </p:nvSpPr>
          <p:spPr>
            <a:xfrm>
              <a:off x="4242254" y="5680075"/>
              <a:ext cx="252300" cy="250800"/>
            </a:xfrm>
            <a:prstGeom prst="ellipse">
              <a:avLst/>
            </a:prstGeom>
            <a:solidFill>
              <a:srgbClr val="2C255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3" name="Google Shape;293;p45"/>
            <p:cNvSpPr/>
            <p:nvPr/>
          </p:nvSpPr>
          <p:spPr>
            <a:xfrm>
              <a:off x="4364491" y="5394325"/>
              <a:ext cx="419100" cy="822325"/>
            </a:xfrm>
            <a:custGeom>
              <a:rect b="b" l="l" r="r" t="t"/>
              <a:pathLst>
                <a:path extrusionOk="0" h="242" w="123">
                  <a:moveTo>
                    <a:pt x="1" y="242"/>
                  </a:moveTo>
                  <a:cubicBezTo>
                    <a:pt x="1" y="242"/>
                    <a:pt x="0" y="242"/>
                    <a:pt x="0" y="242"/>
                  </a:cubicBezTo>
                  <a:cubicBezTo>
                    <a:pt x="0" y="241"/>
                    <a:pt x="1" y="241"/>
                    <a:pt x="1" y="241"/>
                  </a:cubicBezTo>
                  <a:cubicBezTo>
                    <a:pt x="67" y="241"/>
                    <a:pt x="121" y="187"/>
                    <a:pt x="121" y="121"/>
                  </a:cubicBezTo>
                  <a:cubicBezTo>
                    <a:pt x="121" y="56"/>
                    <a:pt x="67" y="2"/>
                    <a:pt x="1" y="2"/>
                  </a:cubicBezTo>
                  <a:cubicBezTo>
                    <a:pt x="1" y="2"/>
                    <a:pt x="0" y="2"/>
                    <a:pt x="0" y="1"/>
                  </a:cubicBezTo>
                  <a:cubicBezTo>
                    <a:pt x="0" y="1"/>
                    <a:pt x="1" y="0"/>
                    <a:pt x="1" y="0"/>
                  </a:cubicBezTo>
                  <a:cubicBezTo>
                    <a:pt x="68" y="0"/>
                    <a:pt x="123" y="55"/>
                    <a:pt x="123" y="121"/>
                  </a:cubicBezTo>
                  <a:cubicBezTo>
                    <a:pt x="123" y="188"/>
                    <a:pt x="68" y="242"/>
                    <a:pt x="1" y="242"/>
                  </a:cubicBezTo>
                  <a:close/>
                </a:path>
              </a:pathLst>
            </a:custGeom>
            <a:solidFill>
              <a:srgbClr val="34437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4" name="Google Shape;294;p45"/>
            <p:cNvSpPr/>
            <p:nvPr/>
          </p:nvSpPr>
          <p:spPr>
            <a:xfrm>
              <a:off x="4405766" y="5475288"/>
              <a:ext cx="338138" cy="660400"/>
            </a:xfrm>
            <a:custGeom>
              <a:rect b="b" l="l" r="r" t="t"/>
              <a:pathLst>
                <a:path extrusionOk="0" h="194" w="99">
                  <a:moveTo>
                    <a:pt x="1" y="194"/>
                  </a:moveTo>
                  <a:cubicBezTo>
                    <a:pt x="1" y="194"/>
                    <a:pt x="0" y="194"/>
                    <a:pt x="0" y="194"/>
                  </a:cubicBezTo>
                  <a:cubicBezTo>
                    <a:pt x="0" y="193"/>
                    <a:pt x="1" y="193"/>
                    <a:pt x="1" y="193"/>
                  </a:cubicBezTo>
                  <a:cubicBezTo>
                    <a:pt x="54" y="193"/>
                    <a:pt x="97" y="150"/>
                    <a:pt x="97" y="97"/>
                  </a:cubicBezTo>
                  <a:cubicBezTo>
                    <a:pt x="97" y="45"/>
                    <a:pt x="54" y="2"/>
                    <a:pt x="1" y="2"/>
                  </a:cubicBezTo>
                  <a:cubicBezTo>
                    <a:pt x="1" y="2"/>
                    <a:pt x="0" y="2"/>
                    <a:pt x="0" y="1"/>
                  </a:cubicBezTo>
                  <a:cubicBezTo>
                    <a:pt x="0" y="1"/>
                    <a:pt x="1" y="0"/>
                    <a:pt x="1" y="0"/>
                  </a:cubicBezTo>
                  <a:cubicBezTo>
                    <a:pt x="55" y="0"/>
                    <a:pt x="99" y="44"/>
                    <a:pt x="99" y="97"/>
                  </a:cubicBezTo>
                  <a:cubicBezTo>
                    <a:pt x="99" y="151"/>
                    <a:pt x="55" y="194"/>
                    <a:pt x="1" y="194"/>
                  </a:cubicBezTo>
                  <a:close/>
                </a:path>
              </a:pathLst>
            </a:custGeom>
            <a:solidFill>
              <a:srgbClr val="34437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5" name="Google Shape;295;p45"/>
            <p:cNvSpPr/>
            <p:nvPr/>
          </p:nvSpPr>
          <p:spPr>
            <a:xfrm>
              <a:off x="3643766" y="4645025"/>
              <a:ext cx="374650" cy="119063"/>
            </a:xfrm>
            <a:custGeom>
              <a:rect b="b" l="l" r="r" t="t"/>
              <a:pathLst>
                <a:path extrusionOk="0" h="35" w="110">
                  <a:moveTo>
                    <a:pt x="33" y="12"/>
                  </a:moveTo>
                  <a:cubicBezTo>
                    <a:pt x="33" y="12"/>
                    <a:pt x="96" y="0"/>
                    <a:pt x="103" y="7"/>
                  </a:cubicBezTo>
                  <a:cubicBezTo>
                    <a:pt x="110" y="14"/>
                    <a:pt x="82" y="35"/>
                    <a:pt x="68" y="35"/>
                  </a:cubicBezTo>
                  <a:cubicBezTo>
                    <a:pt x="54" y="35"/>
                    <a:pt x="0" y="30"/>
                    <a:pt x="33" y="12"/>
                  </a:cubicBezTo>
                  <a:close/>
                </a:path>
              </a:pathLst>
            </a:custGeom>
            <a:solidFill>
              <a:srgbClr val="000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6" name="Google Shape;296;p45"/>
            <p:cNvSpPr/>
            <p:nvPr/>
          </p:nvSpPr>
          <p:spPr>
            <a:xfrm>
              <a:off x="2491241" y="3846513"/>
              <a:ext cx="403225" cy="247650"/>
            </a:xfrm>
            <a:custGeom>
              <a:rect b="b" l="l" r="r" t="t"/>
              <a:pathLst>
                <a:path extrusionOk="0" h="73" w="118">
                  <a:moveTo>
                    <a:pt x="17" y="53"/>
                  </a:moveTo>
                  <a:cubicBezTo>
                    <a:pt x="17" y="53"/>
                    <a:pt x="28" y="39"/>
                    <a:pt x="42" y="35"/>
                  </a:cubicBezTo>
                  <a:cubicBezTo>
                    <a:pt x="55" y="30"/>
                    <a:pt x="95" y="55"/>
                    <a:pt x="106" y="73"/>
                  </a:cubicBezTo>
                  <a:cubicBezTo>
                    <a:pt x="106" y="73"/>
                    <a:pt x="118" y="50"/>
                    <a:pt x="108" y="26"/>
                  </a:cubicBezTo>
                  <a:cubicBezTo>
                    <a:pt x="97" y="1"/>
                    <a:pt x="52" y="0"/>
                    <a:pt x="35" y="8"/>
                  </a:cubicBezTo>
                  <a:cubicBezTo>
                    <a:pt x="17" y="17"/>
                    <a:pt x="0" y="48"/>
                    <a:pt x="17" y="53"/>
                  </a:cubicBezTo>
                  <a:close/>
                </a:path>
              </a:pathLst>
            </a:custGeom>
            <a:solidFill>
              <a:srgbClr val="20265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7" name="Google Shape;297;p45"/>
            <p:cNvSpPr/>
            <p:nvPr/>
          </p:nvSpPr>
          <p:spPr>
            <a:xfrm>
              <a:off x="2781754" y="4094163"/>
              <a:ext cx="228600" cy="176213"/>
            </a:xfrm>
            <a:custGeom>
              <a:rect b="b" l="l" r="r" t="t"/>
              <a:pathLst>
                <a:path extrusionOk="0" h="111" w="144">
                  <a:moveTo>
                    <a:pt x="92" y="111"/>
                  </a:moveTo>
                  <a:lnTo>
                    <a:pt x="0" y="71"/>
                  </a:lnTo>
                  <a:lnTo>
                    <a:pt x="45" y="0"/>
                  </a:lnTo>
                  <a:lnTo>
                    <a:pt x="144" y="15"/>
                  </a:lnTo>
                  <a:lnTo>
                    <a:pt x="92" y="111"/>
                  </a:lnTo>
                  <a:close/>
                </a:path>
              </a:pathLst>
            </a:custGeom>
            <a:solidFill>
              <a:srgbClr val="FAA06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8" name="Google Shape;298;p45"/>
            <p:cNvSpPr/>
            <p:nvPr/>
          </p:nvSpPr>
          <p:spPr>
            <a:xfrm>
              <a:off x="3189741" y="4495800"/>
              <a:ext cx="668338" cy="398463"/>
            </a:xfrm>
            <a:custGeom>
              <a:rect b="b" l="l" r="r" t="t"/>
              <a:pathLst>
                <a:path extrusionOk="0" h="117" w="196">
                  <a:moveTo>
                    <a:pt x="174" y="0"/>
                  </a:moveTo>
                  <a:cubicBezTo>
                    <a:pt x="0" y="73"/>
                    <a:pt x="0" y="73"/>
                    <a:pt x="0" y="73"/>
                  </a:cubicBezTo>
                  <a:cubicBezTo>
                    <a:pt x="0" y="73"/>
                    <a:pt x="26" y="97"/>
                    <a:pt x="33" y="117"/>
                  </a:cubicBezTo>
                  <a:cubicBezTo>
                    <a:pt x="179" y="88"/>
                    <a:pt x="179" y="88"/>
                    <a:pt x="179" y="88"/>
                  </a:cubicBezTo>
                  <a:cubicBezTo>
                    <a:pt x="179" y="88"/>
                    <a:pt x="196" y="22"/>
                    <a:pt x="174" y="0"/>
                  </a:cubicBezTo>
                  <a:close/>
                </a:path>
              </a:pathLst>
            </a:custGeom>
            <a:solidFill>
              <a:srgbClr val="00000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9" name="Google Shape;299;p45"/>
            <p:cNvSpPr/>
            <p:nvPr/>
          </p:nvSpPr>
          <p:spPr>
            <a:xfrm>
              <a:off x="2294391" y="4835525"/>
              <a:ext cx="431800" cy="1003300"/>
            </a:xfrm>
            <a:custGeom>
              <a:rect b="b" l="l" r="r" t="t"/>
              <a:pathLst>
                <a:path extrusionOk="0" h="295" w="127">
                  <a:moveTo>
                    <a:pt x="10" y="295"/>
                  </a:moveTo>
                  <a:cubicBezTo>
                    <a:pt x="9" y="295"/>
                    <a:pt x="8" y="294"/>
                    <a:pt x="7" y="294"/>
                  </a:cubicBezTo>
                  <a:cubicBezTo>
                    <a:pt x="2" y="292"/>
                    <a:pt x="0" y="287"/>
                    <a:pt x="2" y="282"/>
                  </a:cubicBezTo>
                  <a:cubicBezTo>
                    <a:pt x="108" y="7"/>
                    <a:pt x="108" y="7"/>
                    <a:pt x="108" y="7"/>
                  </a:cubicBezTo>
                  <a:cubicBezTo>
                    <a:pt x="109" y="2"/>
                    <a:pt x="115" y="0"/>
                    <a:pt x="119" y="2"/>
                  </a:cubicBezTo>
                  <a:cubicBezTo>
                    <a:pt x="124" y="3"/>
                    <a:pt x="127" y="9"/>
                    <a:pt x="125" y="14"/>
                  </a:cubicBezTo>
                  <a:cubicBezTo>
                    <a:pt x="19" y="289"/>
                    <a:pt x="19" y="289"/>
                    <a:pt x="19" y="289"/>
                  </a:cubicBezTo>
                  <a:cubicBezTo>
                    <a:pt x="17" y="292"/>
                    <a:pt x="14" y="295"/>
                    <a:pt x="10" y="295"/>
                  </a:cubicBezTo>
                  <a:close/>
                </a:path>
              </a:pathLst>
            </a:custGeom>
            <a:solidFill>
              <a:srgbClr val="3B3E9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0" name="Google Shape;300;p45"/>
            <p:cNvSpPr/>
            <p:nvPr/>
          </p:nvSpPr>
          <p:spPr>
            <a:xfrm>
              <a:off x="2567441" y="5073650"/>
              <a:ext cx="1825625" cy="908050"/>
            </a:xfrm>
            <a:custGeom>
              <a:rect b="b" l="l" r="r" t="t"/>
              <a:pathLst>
                <a:path extrusionOk="0" h="267" w="536">
                  <a:moveTo>
                    <a:pt x="254" y="267"/>
                  </a:moveTo>
                  <a:cubicBezTo>
                    <a:pt x="0" y="19"/>
                    <a:pt x="0" y="19"/>
                    <a:pt x="0" y="19"/>
                  </a:cubicBezTo>
                  <a:cubicBezTo>
                    <a:pt x="12" y="6"/>
                    <a:pt x="12" y="6"/>
                    <a:pt x="12" y="6"/>
                  </a:cubicBezTo>
                  <a:cubicBezTo>
                    <a:pt x="12" y="3"/>
                    <a:pt x="12" y="3"/>
                    <a:pt x="12" y="3"/>
                  </a:cubicBezTo>
                  <a:cubicBezTo>
                    <a:pt x="296" y="0"/>
                    <a:pt x="296" y="0"/>
                    <a:pt x="296" y="0"/>
                  </a:cubicBezTo>
                  <a:cubicBezTo>
                    <a:pt x="527" y="201"/>
                    <a:pt x="527" y="201"/>
                    <a:pt x="527" y="201"/>
                  </a:cubicBezTo>
                  <a:cubicBezTo>
                    <a:pt x="536" y="209"/>
                    <a:pt x="532" y="224"/>
                    <a:pt x="520" y="226"/>
                  </a:cubicBezTo>
                  <a:lnTo>
                    <a:pt x="254" y="267"/>
                  </a:lnTo>
                  <a:close/>
                  <a:moveTo>
                    <a:pt x="28" y="21"/>
                  </a:moveTo>
                  <a:cubicBezTo>
                    <a:pt x="260" y="247"/>
                    <a:pt x="260" y="247"/>
                    <a:pt x="260" y="247"/>
                  </a:cubicBezTo>
                  <a:cubicBezTo>
                    <a:pt x="508" y="209"/>
                    <a:pt x="508" y="209"/>
                    <a:pt x="508" y="209"/>
                  </a:cubicBezTo>
                  <a:cubicBezTo>
                    <a:pt x="289" y="19"/>
                    <a:pt x="289" y="19"/>
                    <a:pt x="289" y="19"/>
                  </a:cubicBezTo>
                  <a:lnTo>
                    <a:pt x="28" y="21"/>
                  </a:lnTo>
                  <a:close/>
                </a:path>
              </a:pathLst>
            </a:custGeom>
            <a:solidFill>
              <a:srgbClr val="3B3E9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1" name="Google Shape;301;p45"/>
            <p:cNvSpPr/>
            <p:nvPr/>
          </p:nvSpPr>
          <p:spPr>
            <a:xfrm>
              <a:off x="3400879" y="5907088"/>
              <a:ext cx="82500" cy="85800"/>
            </a:xfrm>
            <a:prstGeom prst="ellipse">
              <a:avLst/>
            </a:prstGeom>
            <a:solidFill>
              <a:srgbClr val="3B3E9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2" name="Google Shape;302;p45"/>
            <p:cNvSpPr/>
            <p:nvPr/>
          </p:nvSpPr>
          <p:spPr>
            <a:xfrm>
              <a:off x="3418341" y="5942013"/>
              <a:ext cx="85725" cy="325438"/>
            </a:xfrm>
            <a:custGeom>
              <a:rect b="b" l="l" r="r" t="t"/>
              <a:pathLst>
                <a:path extrusionOk="0" h="96" w="25">
                  <a:moveTo>
                    <a:pt x="18" y="96"/>
                  </a:moveTo>
                  <a:cubicBezTo>
                    <a:pt x="15" y="96"/>
                    <a:pt x="12" y="94"/>
                    <a:pt x="12" y="91"/>
                  </a:cubicBezTo>
                  <a:cubicBezTo>
                    <a:pt x="1" y="7"/>
                    <a:pt x="1" y="7"/>
                    <a:pt x="1" y="7"/>
                  </a:cubicBezTo>
                  <a:cubicBezTo>
                    <a:pt x="0" y="3"/>
                    <a:pt x="3" y="0"/>
                    <a:pt x="6" y="0"/>
                  </a:cubicBezTo>
                  <a:cubicBezTo>
                    <a:pt x="10" y="0"/>
                    <a:pt x="13" y="2"/>
                    <a:pt x="13" y="5"/>
                  </a:cubicBezTo>
                  <a:cubicBezTo>
                    <a:pt x="24" y="89"/>
                    <a:pt x="24" y="89"/>
                    <a:pt x="24" y="89"/>
                  </a:cubicBezTo>
                  <a:cubicBezTo>
                    <a:pt x="25" y="92"/>
                    <a:pt x="22" y="95"/>
                    <a:pt x="19" y="96"/>
                  </a:cubicBezTo>
                  <a:cubicBezTo>
                    <a:pt x="19" y="96"/>
                    <a:pt x="18" y="96"/>
                    <a:pt x="18" y="96"/>
                  </a:cubicBezTo>
                  <a:close/>
                </a:path>
              </a:pathLst>
            </a:custGeom>
            <a:solidFill>
              <a:srgbClr val="2C255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3" name="Google Shape;303;p45"/>
            <p:cNvSpPr/>
            <p:nvPr/>
          </p:nvSpPr>
          <p:spPr>
            <a:xfrm>
              <a:off x="3281816" y="5043488"/>
              <a:ext cx="323850" cy="1173163"/>
            </a:xfrm>
            <a:custGeom>
              <a:rect b="b" l="l" r="r" t="t"/>
              <a:pathLst>
                <a:path extrusionOk="0" h="345" w="95">
                  <a:moveTo>
                    <a:pt x="42" y="0"/>
                  </a:moveTo>
                  <a:cubicBezTo>
                    <a:pt x="42" y="0"/>
                    <a:pt x="12" y="42"/>
                    <a:pt x="6" y="55"/>
                  </a:cubicBezTo>
                  <a:cubicBezTo>
                    <a:pt x="0" y="68"/>
                    <a:pt x="57" y="235"/>
                    <a:pt x="57" y="266"/>
                  </a:cubicBezTo>
                  <a:cubicBezTo>
                    <a:pt x="57" y="297"/>
                    <a:pt x="41" y="332"/>
                    <a:pt x="26" y="339"/>
                  </a:cubicBezTo>
                  <a:cubicBezTo>
                    <a:pt x="12" y="345"/>
                    <a:pt x="33" y="343"/>
                    <a:pt x="44" y="343"/>
                  </a:cubicBezTo>
                  <a:cubicBezTo>
                    <a:pt x="55" y="343"/>
                    <a:pt x="61" y="317"/>
                    <a:pt x="69" y="309"/>
                  </a:cubicBezTo>
                  <a:cubicBezTo>
                    <a:pt x="77" y="301"/>
                    <a:pt x="81" y="304"/>
                    <a:pt x="87" y="299"/>
                  </a:cubicBezTo>
                  <a:cubicBezTo>
                    <a:pt x="92" y="293"/>
                    <a:pt x="83" y="270"/>
                    <a:pt x="80" y="266"/>
                  </a:cubicBezTo>
                  <a:cubicBezTo>
                    <a:pt x="76" y="262"/>
                    <a:pt x="95" y="116"/>
                    <a:pt x="73" y="84"/>
                  </a:cubicBezTo>
                  <a:cubicBezTo>
                    <a:pt x="66" y="69"/>
                    <a:pt x="66" y="69"/>
                    <a:pt x="66" y="69"/>
                  </a:cubicBezTo>
                  <a:cubicBezTo>
                    <a:pt x="83" y="19"/>
                    <a:pt x="83" y="19"/>
                    <a:pt x="83" y="19"/>
                  </a:cubicBezTo>
                  <a:lnTo>
                    <a:pt x="42" y="0"/>
                  </a:lnTo>
                  <a:close/>
                </a:path>
              </a:pathLst>
            </a:custGeom>
            <a:solidFill>
              <a:srgbClr val="FBB894"/>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4" name="Google Shape;304;p45"/>
            <p:cNvSpPr/>
            <p:nvPr/>
          </p:nvSpPr>
          <p:spPr>
            <a:xfrm>
              <a:off x="3837441" y="4445000"/>
              <a:ext cx="20638" cy="0"/>
            </a:xfrm>
            <a:custGeom>
              <a:rect b="b" l="l" r="r" t="t"/>
              <a:pathLst>
                <a:path extrusionOk="0" h="120000" w="6">
                  <a:moveTo>
                    <a:pt x="3" y="0"/>
                  </a:moveTo>
                  <a:cubicBezTo>
                    <a:pt x="6" y="0"/>
                    <a:pt x="0" y="0"/>
                    <a:pt x="3" y="0"/>
                  </a:cubicBezTo>
                  <a:close/>
                </a:path>
              </a:pathLst>
            </a:custGeom>
            <a:solidFill>
              <a:srgbClr val="59416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5" name="Google Shape;305;p45"/>
            <p:cNvSpPr/>
            <p:nvPr/>
          </p:nvSpPr>
          <p:spPr>
            <a:xfrm>
              <a:off x="3370716" y="4441825"/>
              <a:ext cx="623888" cy="727075"/>
            </a:xfrm>
            <a:custGeom>
              <a:rect b="b" l="l" r="r" t="t"/>
              <a:pathLst>
                <a:path extrusionOk="0" h="214" w="183">
                  <a:moveTo>
                    <a:pt x="140" y="1"/>
                  </a:moveTo>
                  <a:cubicBezTo>
                    <a:pt x="103" y="0"/>
                    <a:pt x="69" y="23"/>
                    <a:pt x="55" y="57"/>
                  </a:cubicBezTo>
                  <a:cubicBezTo>
                    <a:pt x="0" y="188"/>
                    <a:pt x="0" y="188"/>
                    <a:pt x="0" y="188"/>
                  </a:cubicBezTo>
                  <a:cubicBezTo>
                    <a:pt x="56" y="214"/>
                    <a:pt x="56" y="214"/>
                    <a:pt x="56" y="214"/>
                  </a:cubicBezTo>
                  <a:cubicBezTo>
                    <a:pt x="168" y="58"/>
                    <a:pt x="168" y="58"/>
                    <a:pt x="168" y="58"/>
                  </a:cubicBezTo>
                  <a:cubicBezTo>
                    <a:pt x="168" y="58"/>
                    <a:pt x="183" y="7"/>
                    <a:pt x="140" y="1"/>
                  </a:cubicBezTo>
                  <a:close/>
                </a:path>
              </a:pathLst>
            </a:custGeom>
            <a:solidFill>
              <a:srgbClr val="2C255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6" name="Google Shape;306;p45"/>
            <p:cNvSpPr/>
            <p:nvPr/>
          </p:nvSpPr>
          <p:spPr>
            <a:xfrm>
              <a:off x="2838904" y="4019550"/>
              <a:ext cx="1123950" cy="574675"/>
            </a:xfrm>
            <a:custGeom>
              <a:rect b="b" l="l" r="r" t="t"/>
              <a:pathLst>
                <a:path extrusionOk="0" h="169" w="330">
                  <a:moveTo>
                    <a:pt x="330" y="125"/>
                  </a:moveTo>
                  <a:cubicBezTo>
                    <a:pt x="330" y="125"/>
                    <a:pt x="256" y="61"/>
                    <a:pt x="177" y="31"/>
                  </a:cubicBezTo>
                  <a:cubicBezTo>
                    <a:pt x="97" y="0"/>
                    <a:pt x="62" y="17"/>
                    <a:pt x="32" y="40"/>
                  </a:cubicBezTo>
                  <a:cubicBezTo>
                    <a:pt x="2" y="63"/>
                    <a:pt x="0" y="115"/>
                    <a:pt x="32" y="131"/>
                  </a:cubicBezTo>
                  <a:cubicBezTo>
                    <a:pt x="64" y="148"/>
                    <a:pt x="108" y="130"/>
                    <a:pt x="153" y="125"/>
                  </a:cubicBezTo>
                  <a:cubicBezTo>
                    <a:pt x="198" y="120"/>
                    <a:pt x="219" y="169"/>
                    <a:pt x="219" y="169"/>
                  </a:cubicBezTo>
                  <a:cubicBezTo>
                    <a:pt x="219" y="169"/>
                    <a:pt x="318" y="161"/>
                    <a:pt x="330" y="125"/>
                  </a:cubicBezTo>
                  <a:close/>
                </a:path>
              </a:pathLst>
            </a:custGeom>
            <a:solidFill>
              <a:srgbClr val="4EC9F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7" name="Google Shape;307;p45"/>
            <p:cNvSpPr/>
            <p:nvPr/>
          </p:nvSpPr>
          <p:spPr>
            <a:xfrm>
              <a:off x="2992891" y="4192588"/>
              <a:ext cx="265113" cy="296863"/>
            </a:xfrm>
            <a:custGeom>
              <a:rect b="b" l="l" r="r" t="t"/>
              <a:pathLst>
                <a:path extrusionOk="0" h="87" w="78">
                  <a:moveTo>
                    <a:pt x="78" y="79"/>
                  </a:moveTo>
                  <a:cubicBezTo>
                    <a:pt x="76" y="71"/>
                    <a:pt x="73" y="63"/>
                    <a:pt x="68" y="55"/>
                  </a:cubicBezTo>
                  <a:cubicBezTo>
                    <a:pt x="52" y="28"/>
                    <a:pt x="11" y="0"/>
                    <a:pt x="11" y="0"/>
                  </a:cubicBezTo>
                  <a:cubicBezTo>
                    <a:pt x="0" y="4"/>
                    <a:pt x="0" y="4"/>
                    <a:pt x="0" y="4"/>
                  </a:cubicBezTo>
                  <a:cubicBezTo>
                    <a:pt x="22" y="87"/>
                    <a:pt x="22" y="87"/>
                    <a:pt x="22" y="87"/>
                  </a:cubicBezTo>
                  <a:cubicBezTo>
                    <a:pt x="40" y="87"/>
                    <a:pt x="59" y="83"/>
                    <a:pt x="78" y="79"/>
                  </a:cubicBezTo>
                  <a:close/>
                </a:path>
              </a:pathLst>
            </a:custGeom>
            <a:solidFill>
              <a:srgbClr val="2BBFE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8" name="Google Shape;308;p45"/>
            <p:cNvSpPr/>
            <p:nvPr/>
          </p:nvSpPr>
          <p:spPr>
            <a:xfrm>
              <a:off x="2883354" y="4183063"/>
              <a:ext cx="282575" cy="396875"/>
            </a:xfrm>
            <a:custGeom>
              <a:rect b="b" l="l" r="r" t="t"/>
              <a:pathLst>
                <a:path extrusionOk="0" h="117" w="83">
                  <a:moveTo>
                    <a:pt x="32" y="2"/>
                  </a:moveTo>
                  <a:cubicBezTo>
                    <a:pt x="55" y="0"/>
                    <a:pt x="65" y="22"/>
                    <a:pt x="72" y="44"/>
                  </a:cubicBezTo>
                  <a:cubicBezTo>
                    <a:pt x="83" y="75"/>
                    <a:pt x="79" y="92"/>
                    <a:pt x="79" y="92"/>
                  </a:cubicBezTo>
                  <a:cubicBezTo>
                    <a:pt x="19" y="117"/>
                    <a:pt x="19" y="117"/>
                    <a:pt x="19" y="117"/>
                  </a:cubicBezTo>
                  <a:cubicBezTo>
                    <a:pt x="19" y="117"/>
                    <a:pt x="18" y="96"/>
                    <a:pt x="10" y="77"/>
                  </a:cubicBezTo>
                  <a:cubicBezTo>
                    <a:pt x="6" y="65"/>
                    <a:pt x="0" y="52"/>
                    <a:pt x="0" y="39"/>
                  </a:cubicBezTo>
                  <a:cubicBezTo>
                    <a:pt x="0" y="21"/>
                    <a:pt x="16" y="4"/>
                    <a:pt x="32" y="2"/>
                  </a:cubicBezTo>
                  <a:close/>
                </a:path>
              </a:pathLst>
            </a:custGeom>
            <a:solidFill>
              <a:srgbClr val="D94197"/>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9" name="Google Shape;309;p45"/>
            <p:cNvSpPr/>
            <p:nvPr/>
          </p:nvSpPr>
          <p:spPr>
            <a:xfrm>
              <a:off x="2570616" y="4508500"/>
              <a:ext cx="603250" cy="395288"/>
            </a:xfrm>
            <a:custGeom>
              <a:rect b="b" l="l" r="r" t="t"/>
              <a:pathLst>
                <a:path extrusionOk="0" h="116" w="177">
                  <a:moveTo>
                    <a:pt x="7" y="83"/>
                  </a:moveTo>
                  <a:cubicBezTo>
                    <a:pt x="7" y="83"/>
                    <a:pt x="63" y="61"/>
                    <a:pt x="92" y="54"/>
                  </a:cubicBezTo>
                  <a:cubicBezTo>
                    <a:pt x="122" y="48"/>
                    <a:pt x="129" y="37"/>
                    <a:pt x="129" y="37"/>
                  </a:cubicBezTo>
                  <a:cubicBezTo>
                    <a:pt x="120" y="17"/>
                    <a:pt x="120" y="17"/>
                    <a:pt x="120" y="17"/>
                  </a:cubicBezTo>
                  <a:cubicBezTo>
                    <a:pt x="162" y="0"/>
                    <a:pt x="162" y="0"/>
                    <a:pt x="162" y="0"/>
                  </a:cubicBezTo>
                  <a:cubicBezTo>
                    <a:pt x="162" y="0"/>
                    <a:pt x="177" y="54"/>
                    <a:pt x="168" y="63"/>
                  </a:cubicBezTo>
                  <a:cubicBezTo>
                    <a:pt x="159" y="72"/>
                    <a:pt x="64" y="102"/>
                    <a:pt x="35" y="106"/>
                  </a:cubicBezTo>
                  <a:cubicBezTo>
                    <a:pt x="7" y="110"/>
                    <a:pt x="0" y="116"/>
                    <a:pt x="0" y="116"/>
                  </a:cubicBezTo>
                  <a:lnTo>
                    <a:pt x="7" y="83"/>
                  </a:lnTo>
                  <a:close/>
                </a:path>
              </a:pathLst>
            </a:custGeom>
            <a:solidFill>
              <a:srgbClr val="FBB894"/>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0" name="Google Shape;310;p45"/>
            <p:cNvSpPr/>
            <p:nvPr/>
          </p:nvSpPr>
          <p:spPr>
            <a:xfrm>
              <a:off x="2491241" y="4713288"/>
              <a:ext cx="180975" cy="282575"/>
            </a:xfrm>
            <a:custGeom>
              <a:rect b="b" l="l" r="r" t="t"/>
              <a:pathLst>
                <a:path extrusionOk="0" h="83" w="53">
                  <a:moveTo>
                    <a:pt x="42" y="15"/>
                  </a:moveTo>
                  <a:cubicBezTo>
                    <a:pt x="42" y="15"/>
                    <a:pt x="37" y="0"/>
                    <a:pt x="23" y="5"/>
                  </a:cubicBezTo>
                  <a:cubicBezTo>
                    <a:pt x="9" y="9"/>
                    <a:pt x="0" y="36"/>
                    <a:pt x="0" y="50"/>
                  </a:cubicBezTo>
                  <a:cubicBezTo>
                    <a:pt x="0" y="65"/>
                    <a:pt x="29" y="83"/>
                    <a:pt x="37" y="83"/>
                  </a:cubicBezTo>
                  <a:cubicBezTo>
                    <a:pt x="45" y="83"/>
                    <a:pt x="47" y="71"/>
                    <a:pt x="42" y="66"/>
                  </a:cubicBezTo>
                  <a:cubicBezTo>
                    <a:pt x="37" y="61"/>
                    <a:pt x="39" y="61"/>
                    <a:pt x="46" y="61"/>
                  </a:cubicBezTo>
                  <a:cubicBezTo>
                    <a:pt x="53" y="61"/>
                    <a:pt x="46" y="51"/>
                    <a:pt x="46" y="39"/>
                  </a:cubicBezTo>
                  <a:cubicBezTo>
                    <a:pt x="46" y="27"/>
                    <a:pt x="42" y="15"/>
                    <a:pt x="42" y="15"/>
                  </a:cubicBezTo>
                  <a:close/>
                </a:path>
              </a:pathLst>
            </a:custGeom>
            <a:solidFill>
              <a:srgbClr val="2C255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1" name="Google Shape;311;p45"/>
            <p:cNvSpPr/>
            <p:nvPr/>
          </p:nvSpPr>
          <p:spPr>
            <a:xfrm>
              <a:off x="3281816" y="5945188"/>
              <a:ext cx="395288" cy="295275"/>
            </a:xfrm>
            <a:custGeom>
              <a:rect b="b" l="l" r="r" t="t"/>
              <a:pathLst>
                <a:path extrusionOk="0" h="87" w="116">
                  <a:moveTo>
                    <a:pt x="115" y="43"/>
                  </a:moveTo>
                  <a:cubicBezTo>
                    <a:pt x="115" y="43"/>
                    <a:pt x="95" y="53"/>
                    <a:pt x="82" y="60"/>
                  </a:cubicBezTo>
                  <a:cubicBezTo>
                    <a:pt x="69" y="67"/>
                    <a:pt x="48" y="80"/>
                    <a:pt x="41" y="84"/>
                  </a:cubicBezTo>
                  <a:cubicBezTo>
                    <a:pt x="34" y="87"/>
                    <a:pt x="2" y="84"/>
                    <a:pt x="1" y="78"/>
                  </a:cubicBezTo>
                  <a:cubicBezTo>
                    <a:pt x="0" y="72"/>
                    <a:pt x="22" y="62"/>
                    <a:pt x="31" y="50"/>
                  </a:cubicBezTo>
                  <a:cubicBezTo>
                    <a:pt x="39" y="38"/>
                    <a:pt x="51" y="9"/>
                    <a:pt x="55" y="10"/>
                  </a:cubicBezTo>
                  <a:cubicBezTo>
                    <a:pt x="60" y="12"/>
                    <a:pt x="77" y="0"/>
                    <a:pt x="83" y="2"/>
                  </a:cubicBezTo>
                  <a:cubicBezTo>
                    <a:pt x="89" y="3"/>
                    <a:pt x="116" y="38"/>
                    <a:pt x="115" y="43"/>
                  </a:cubicBezTo>
                  <a:close/>
                </a:path>
              </a:pathLst>
            </a:custGeom>
            <a:solidFill>
              <a:srgbClr val="7274C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2" name="Google Shape;312;p45"/>
            <p:cNvSpPr/>
            <p:nvPr/>
          </p:nvSpPr>
          <p:spPr>
            <a:xfrm>
              <a:off x="3319916" y="6070600"/>
              <a:ext cx="319088" cy="139700"/>
            </a:xfrm>
            <a:custGeom>
              <a:rect b="b" l="l" r="r" t="t"/>
              <a:pathLst>
                <a:path extrusionOk="0" h="41" w="94">
                  <a:moveTo>
                    <a:pt x="94" y="0"/>
                  </a:moveTo>
                  <a:cubicBezTo>
                    <a:pt x="36" y="19"/>
                    <a:pt x="60" y="28"/>
                    <a:pt x="0" y="41"/>
                  </a:cubicBezTo>
                  <a:cubicBezTo>
                    <a:pt x="15" y="39"/>
                    <a:pt x="37" y="34"/>
                    <a:pt x="49" y="24"/>
                  </a:cubicBezTo>
                  <a:cubicBezTo>
                    <a:pt x="56" y="19"/>
                    <a:pt x="63" y="15"/>
                    <a:pt x="71" y="11"/>
                  </a:cubicBezTo>
                  <a:cubicBezTo>
                    <a:pt x="79" y="7"/>
                    <a:pt x="86" y="3"/>
                    <a:pt x="94" y="0"/>
                  </a:cubicBezTo>
                  <a:close/>
                </a:path>
              </a:pathLst>
            </a:custGeom>
            <a:solidFill>
              <a:srgbClr val="2B327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3" name="Google Shape;313;p45"/>
            <p:cNvSpPr/>
            <p:nvPr/>
          </p:nvSpPr>
          <p:spPr>
            <a:xfrm>
              <a:off x="3408816" y="6067425"/>
              <a:ext cx="84138" cy="23813"/>
            </a:xfrm>
            <a:custGeom>
              <a:rect b="b" l="l" r="r" t="t"/>
              <a:pathLst>
                <a:path extrusionOk="0" h="7" w="25">
                  <a:moveTo>
                    <a:pt x="25" y="5"/>
                  </a:moveTo>
                  <a:cubicBezTo>
                    <a:pt x="24" y="7"/>
                    <a:pt x="23" y="7"/>
                    <a:pt x="22" y="7"/>
                  </a:cubicBezTo>
                  <a:cubicBezTo>
                    <a:pt x="17" y="6"/>
                    <a:pt x="8" y="5"/>
                    <a:pt x="0" y="4"/>
                  </a:cubicBezTo>
                  <a:cubicBezTo>
                    <a:pt x="1" y="3"/>
                    <a:pt x="1" y="1"/>
                    <a:pt x="2" y="0"/>
                  </a:cubicBezTo>
                  <a:cubicBezTo>
                    <a:pt x="12" y="0"/>
                    <a:pt x="22" y="2"/>
                    <a:pt x="23" y="3"/>
                  </a:cubicBezTo>
                  <a:cubicBezTo>
                    <a:pt x="24" y="3"/>
                    <a:pt x="25" y="4"/>
                    <a:pt x="25" y="5"/>
                  </a:cubicBezTo>
                  <a:close/>
                </a:path>
              </a:pathLst>
            </a:custGeom>
            <a:solidFill>
              <a:srgbClr val="2B327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4" name="Google Shape;314;p45"/>
            <p:cNvSpPr/>
            <p:nvPr/>
          </p:nvSpPr>
          <p:spPr>
            <a:xfrm>
              <a:off x="3432629" y="6019800"/>
              <a:ext cx="57150" cy="36513"/>
            </a:xfrm>
            <a:custGeom>
              <a:rect b="b" l="l" r="r" t="t"/>
              <a:pathLst>
                <a:path extrusionOk="0" h="11" w="17">
                  <a:moveTo>
                    <a:pt x="16" y="9"/>
                  </a:moveTo>
                  <a:cubicBezTo>
                    <a:pt x="16" y="10"/>
                    <a:pt x="14" y="11"/>
                    <a:pt x="13" y="10"/>
                  </a:cubicBezTo>
                  <a:cubicBezTo>
                    <a:pt x="13" y="10"/>
                    <a:pt x="7" y="6"/>
                    <a:pt x="0" y="4"/>
                  </a:cubicBezTo>
                  <a:cubicBezTo>
                    <a:pt x="1" y="3"/>
                    <a:pt x="2" y="1"/>
                    <a:pt x="2" y="0"/>
                  </a:cubicBezTo>
                  <a:cubicBezTo>
                    <a:pt x="10" y="2"/>
                    <a:pt x="15" y="6"/>
                    <a:pt x="16" y="6"/>
                  </a:cubicBezTo>
                  <a:cubicBezTo>
                    <a:pt x="17" y="7"/>
                    <a:pt x="17" y="8"/>
                    <a:pt x="16" y="9"/>
                  </a:cubicBezTo>
                  <a:close/>
                </a:path>
              </a:pathLst>
            </a:custGeom>
            <a:solidFill>
              <a:srgbClr val="2B327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5" name="Google Shape;315;p45"/>
            <p:cNvSpPr/>
            <p:nvPr/>
          </p:nvSpPr>
          <p:spPr>
            <a:xfrm>
              <a:off x="3308804" y="6203950"/>
              <a:ext cx="187325" cy="77788"/>
            </a:xfrm>
            <a:custGeom>
              <a:rect b="b" l="l" r="r" t="t"/>
              <a:pathLst>
                <a:path extrusionOk="0" h="49" w="118">
                  <a:moveTo>
                    <a:pt x="118" y="27"/>
                  </a:moveTo>
                  <a:lnTo>
                    <a:pt x="7" y="49"/>
                  </a:lnTo>
                  <a:lnTo>
                    <a:pt x="0" y="23"/>
                  </a:lnTo>
                  <a:lnTo>
                    <a:pt x="112" y="0"/>
                  </a:lnTo>
                  <a:lnTo>
                    <a:pt x="118" y="27"/>
                  </a:lnTo>
                  <a:close/>
                </a:path>
              </a:pathLst>
            </a:custGeom>
            <a:solidFill>
              <a:srgbClr val="2C255D"/>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6" name="Google Shape;316;p45"/>
            <p:cNvSpPr/>
            <p:nvPr/>
          </p:nvSpPr>
          <p:spPr>
            <a:xfrm>
              <a:off x="3105604" y="4314825"/>
              <a:ext cx="565150" cy="273050"/>
            </a:xfrm>
            <a:custGeom>
              <a:rect b="b" l="l" r="r" t="t"/>
              <a:pathLst>
                <a:path extrusionOk="0" h="80" w="166">
                  <a:moveTo>
                    <a:pt x="113" y="13"/>
                  </a:moveTo>
                  <a:cubicBezTo>
                    <a:pt x="88" y="0"/>
                    <a:pt x="4" y="8"/>
                    <a:pt x="0" y="9"/>
                  </a:cubicBezTo>
                  <a:cubicBezTo>
                    <a:pt x="1" y="12"/>
                    <a:pt x="1" y="12"/>
                    <a:pt x="1" y="12"/>
                  </a:cubicBezTo>
                  <a:cubicBezTo>
                    <a:pt x="2" y="12"/>
                    <a:pt x="87" y="3"/>
                    <a:pt x="112" y="16"/>
                  </a:cubicBezTo>
                  <a:cubicBezTo>
                    <a:pt x="128" y="23"/>
                    <a:pt x="149" y="56"/>
                    <a:pt x="163" y="80"/>
                  </a:cubicBezTo>
                  <a:cubicBezTo>
                    <a:pt x="164" y="80"/>
                    <a:pt x="165" y="79"/>
                    <a:pt x="166" y="79"/>
                  </a:cubicBezTo>
                  <a:cubicBezTo>
                    <a:pt x="152" y="55"/>
                    <a:pt x="130" y="21"/>
                    <a:pt x="113" y="13"/>
                  </a:cubicBezTo>
                  <a:close/>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7" name="Google Shape;317;p45"/>
            <p:cNvSpPr/>
            <p:nvPr/>
          </p:nvSpPr>
          <p:spPr>
            <a:xfrm>
              <a:off x="3081791" y="4267200"/>
              <a:ext cx="642938" cy="309563"/>
            </a:xfrm>
            <a:custGeom>
              <a:rect b="b" l="l" r="r" t="t"/>
              <a:pathLst>
                <a:path extrusionOk="0" h="91" w="189">
                  <a:moveTo>
                    <a:pt x="122" y="13"/>
                  </a:moveTo>
                  <a:cubicBezTo>
                    <a:pt x="90" y="0"/>
                    <a:pt x="4" y="10"/>
                    <a:pt x="0" y="10"/>
                  </a:cubicBezTo>
                  <a:cubicBezTo>
                    <a:pt x="0" y="13"/>
                    <a:pt x="0" y="13"/>
                    <a:pt x="0" y="13"/>
                  </a:cubicBezTo>
                  <a:cubicBezTo>
                    <a:pt x="1" y="13"/>
                    <a:pt x="90" y="3"/>
                    <a:pt x="121" y="16"/>
                  </a:cubicBezTo>
                  <a:cubicBezTo>
                    <a:pt x="140" y="24"/>
                    <a:pt x="168" y="63"/>
                    <a:pt x="185" y="91"/>
                  </a:cubicBezTo>
                  <a:cubicBezTo>
                    <a:pt x="186" y="91"/>
                    <a:pt x="188" y="90"/>
                    <a:pt x="189" y="90"/>
                  </a:cubicBezTo>
                  <a:cubicBezTo>
                    <a:pt x="171" y="62"/>
                    <a:pt x="143" y="22"/>
                    <a:pt x="122" y="13"/>
                  </a:cubicBezTo>
                  <a:close/>
                </a:path>
              </a:pathLst>
            </a:custGeom>
            <a:solidFill>
              <a:srgbClr val="FFFFF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8" name="Google Shape;318;p45"/>
            <p:cNvSpPr/>
            <p:nvPr/>
          </p:nvSpPr>
          <p:spPr>
            <a:xfrm>
              <a:off x="3081791" y="4294188"/>
              <a:ext cx="84138" cy="17463"/>
            </a:xfrm>
            <a:custGeom>
              <a:rect b="b" l="l" r="r" t="t"/>
              <a:pathLst>
                <a:path extrusionOk="0" h="5" w="25">
                  <a:moveTo>
                    <a:pt x="22" y="0"/>
                  </a:moveTo>
                  <a:cubicBezTo>
                    <a:pt x="10" y="1"/>
                    <a:pt x="1" y="2"/>
                    <a:pt x="0" y="2"/>
                  </a:cubicBezTo>
                  <a:cubicBezTo>
                    <a:pt x="0" y="5"/>
                    <a:pt x="0" y="5"/>
                    <a:pt x="0" y="5"/>
                  </a:cubicBezTo>
                  <a:cubicBezTo>
                    <a:pt x="1" y="5"/>
                    <a:pt x="11" y="4"/>
                    <a:pt x="25" y="3"/>
                  </a:cubicBezTo>
                  <a:cubicBezTo>
                    <a:pt x="24" y="2"/>
                    <a:pt x="23" y="1"/>
                    <a:pt x="22" y="0"/>
                  </a:cubicBezTo>
                  <a:close/>
                </a:path>
              </a:pathLst>
            </a:custGeom>
            <a:solidFill>
              <a:srgbClr val="C6C3E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9" name="Google Shape;319;p45"/>
            <p:cNvSpPr/>
            <p:nvPr/>
          </p:nvSpPr>
          <p:spPr>
            <a:xfrm>
              <a:off x="3105604" y="4338638"/>
              <a:ext cx="98425" cy="17463"/>
            </a:xfrm>
            <a:custGeom>
              <a:rect b="b" l="l" r="r" t="t"/>
              <a:pathLst>
                <a:path extrusionOk="0" h="5" w="29">
                  <a:moveTo>
                    <a:pt x="0" y="2"/>
                  </a:moveTo>
                  <a:cubicBezTo>
                    <a:pt x="1" y="5"/>
                    <a:pt x="1" y="5"/>
                    <a:pt x="1" y="5"/>
                  </a:cubicBezTo>
                  <a:cubicBezTo>
                    <a:pt x="1" y="5"/>
                    <a:pt x="13" y="4"/>
                    <a:pt x="29" y="3"/>
                  </a:cubicBezTo>
                  <a:cubicBezTo>
                    <a:pt x="28" y="2"/>
                    <a:pt x="27" y="1"/>
                    <a:pt x="27" y="0"/>
                  </a:cubicBezTo>
                  <a:cubicBezTo>
                    <a:pt x="12" y="0"/>
                    <a:pt x="2" y="1"/>
                    <a:pt x="0" y="2"/>
                  </a:cubicBezTo>
                  <a:close/>
                </a:path>
              </a:pathLst>
            </a:custGeom>
            <a:solidFill>
              <a:srgbClr val="C6C3E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0" name="Google Shape;320;p45"/>
            <p:cNvSpPr/>
            <p:nvPr/>
          </p:nvSpPr>
          <p:spPr>
            <a:xfrm>
              <a:off x="2883354" y="4183063"/>
              <a:ext cx="282575" cy="396875"/>
            </a:xfrm>
            <a:custGeom>
              <a:rect b="b" l="l" r="r" t="t"/>
              <a:pathLst>
                <a:path extrusionOk="0" h="117" w="83">
                  <a:moveTo>
                    <a:pt x="32" y="2"/>
                  </a:moveTo>
                  <a:cubicBezTo>
                    <a:pt x="55" y="0"/>
                    <a:pt x="65" y="22"/>
                    <a:pt x="72" y="44"/>
                  </a:cubicBezTo>
                  <a:cubicBezTo>
                    <a:pt x="83" y="75"/>
                    <a:pt x="79" y="92"/>
                    <a:pt x="79" y="92"/>
                  </a:cubicBezTo>
                  <a:cubicBezTo>
                    <a:pt x="19" y="117"/>
                    <a:pt x="19" y="117"/>
                    <a:pt x="19" y="117"/>
                  </a:cubicBezTo>
                  <a:cubicBezTo>
                    <a:pt x="19" y="117"/>
                    <a:pt x="18" y="96"/>
                    <a:pt x="10" y="77"/>
                  </a:cubicBezTo>
                  <a:cubicBezTo>
                    <a:pt x="6" y="65"/>
                    <a:pt x="0" y="52"/>
                    <a:pt x="0" y="39"/>
                  </a:cubicBezTo>
                  <a:cubicBezTo>
                    <a:pt x="0" y="21"/>
                    <a:pt x="16" y="4"/>
                    <a:pt x="32" y="2"/>
                  </a:cubicBezTo>
                  <a:close/>
                </a:path>
              </a:pathLst>
            </a:custGeom>
            <a:solidFill>
              <a:srgbClr val="14B4E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1" name="Google Shape;321;p45"/>
            <p:cNvSpPr/>
            <p:nvPr/>
          </p:nvSpPr>
          <p:spPr>
            <a:xfrm>
              <a:off x="2642054" y="3957638"/>
              <a:ext cx="163513" cy="115888"/>
            </a:xfrm>
            <a:custGeom>
              <a:rect b="b" l="l" r="r" t="t"/>
              <a:pathLst>
                <a:path extrusionOk="0" h="73" w="103">
                  <a:moveTo>
                    <a:pt x="0" y="67"/>
                  </a:moveTo>
                  <a:lnTo>
                    <a:pt x="88" y="0"/>
                  </a:lnTo>
                  <a:lnTo>
                    <a:pt x="103" y="5"/>
                  </a:lnTo>
                  <a:lnTo>
                    <a:pt x="4" y="73"/>
                  </a:lnTo>
                  <a:lnTo>
                    <a:pt x="0" y="67"/>
                  </a:lnTo>
                  <a:close/>
                </a:path>
              </a:pathLst>
            </a:custGeom>
            <a:solidFill>
              <a:srgbClr val="38427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2" name="Google Shape;322;p45"/>
            <p:cNvSpPr/>
            <p:nvPr/>
          </p:nvSpPr>
          <p:spPr>
            <a:xfrm>
              <a:off x="2750004" y="3927475"/>
              <a:ext cx="55563" cy="449263"/>
            </a:xfrm>
            <a:custGeom>
              <a:rect b="b" l="l" r="r" t="t"/>
              <a:pathLst>
                <a:path extrusionOk="0" h="132" w="16">
                  <a:moveTo>
                    <a:pt x="8" y="0"/>
                  </a:moveTo>
                  <a:cubicBezTo>
                    <a:pt x="11" y="26"/>
                    <a:pt x="16" y="89"/>
                    <a:pt x="12" y="115"/>
                  </a:cubicBezTo>
                  <a:cubicBezTo>
                    <a:pt x="11" y="119"/>
                    <a:pt x="10" y="125"/>
                    <a:pt x="5" y="126"/>
                  </a:cubicBezTo>
                  <a:cubicBezTo>
                    <a:pt x="3" y="127"/>
                    <a:pt x="1" y="125"/>
                    <a:pt x="0" y="124"/>
                  </a:cubicBezTo>
                  <a:cubicBezTo>
                    <a:pt x="2" y="122"/>
                    <a:pt x="2" y="122"/>
                    <a:pt x="2" y="122"/>
                  </a:cubicBezTo>
                  <a:cubicBezTo>
                    <a:pt x="12" y="132"/>
                    <a:pt x="9" y="78"/>
                    <a:pt x="9" y="66"/>
                  </a:cubicBezTo>
                  <a:cubicBezTo>
                    <a:pt x="7" y="44"/>
                    <a:pt x="5" y="23"/>
                    <a:pt x="3" y="1"/>
                  </a:cubicBezTo>
                  <a:lnTo>
                    <a:pt x="8" y="0"/>
                  </a:lnTo>
                  <a:close/>
                </a:path>
              </a:pathLst>
            </a:custGeom>
            <a:solidFill>
              <a:srgbClr val="2B327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3" name="Google Shape;323;p45"/>
            <p:cNvSpPr/>
            <p:nvPr/>
          </p:nvSpPr>
          <p:spPr>
            <a:xfrm>
              <a:off x="2369004" y="3679825"/>
              <a:ext cx="568325" cy="360363"/>
            </a:xfrm>
            <a:custGeom>
              <a:rect b="b" l="l" r="r" t="t"/>
              <a:pathLst>
                <a:path extrusionOk="0" h="106" w="167">
                  <a:moveTo>
                    <a:pt x="22" y="105"/>
                  </a:moveTo>
                  <a:cubicBezTo>
                    <a:pt x="22" y="105"/>
                    <a:pt x="23" y="106"/>
                    <a:pt x="48" y="102"/>
                  </a:cubicBezTo>
                  <a:cubicBezTo>
                    <a:pt x="73" y="99"/>
                    <a:pt x="110" y="83"/>
                    <a:pt x="120" y="85"/>
                  </a:cubicBezTo>
                  <a:cubicBezTo>
                    <a:pt x="130" y="86"/>
                    <a:pt x="142" y="86"/>
                    <a:pt x="149" y="83"/>
                  </a:cubicBezTo>
                  <a:cubicBezTo>
                    <a:pt x="157" y="79"/>
                    <a:pt x="167" y="27"/>
                    <a:pt x="158" y="17"/>
                  </a:cubicBezTo>
                  <a:cubicBezTo>
                    <a:pt x="149" y="8"/>
                    <a:pt x="90" y="0"/>
                    <a:pt x="56" y="24"/>
                  </a:cubicBezTo>
                  <a:cubicBezTo>
                    <a:pt x="22" y="49"/>
                    <a:pt x="0" y="90"/>
                    <a:pt x="22" y="105"/>
                  </a:cubicBezTo>
                  <a:close/>
                </a:path>
              </a:pathLst>
            </a:custGeom>
            <a:solidFill>
              <a:srgbClr val="4EC9F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4" name="Google Shape;324;p45"/>
            <p:cNvSpPr/>
            <p:nvPr/>
          </p:nvSpPr>
          <p:spPr>
            <a:xfrm>
              <a:off x="2440441" y="3775075"/>
              <a:ext cx="481013" cy="261938"/>
            </a:xfrm>
            <a:custGeom>
              <a:rect b="b" l="l" r="r" t="t"/>
              <a:pathLst>
                <a:path extrusionOk="0" h="77" w="141">
                  <a:moveTo>
                    <a:pt x="37" y="29"/>
                  </a:moveTo>
                  <a:cubicBezTo>
                    <a:pt x="10" y="47"/>
                    <a:pt x="2" y="68"/>
                    <a:pt x="0" y="76"/>
                  </a:cubicBezTo>
                  <a:cubicBezTo>
                    <a:pt x="0" y="76"/>
                    <a:pt x="1" y="76"/>
                    <a:pt x="1" y="77"/>
                  </a:cubicBezTo>
                  <a:cubicBezTo>
                    <a:pt x="1" y="77"/>
                    <a:pt x="2" y="77"/>
                    <a:pt x="7" y="77"/>
                  </a:cubicBezTo>
                  <a:cubicBezTo>
                    <a:pt x="8" y="70"/>
                    <a:pt x="16" y="51"/>
                    <a:pt x="41" y="34"/>
                  </a:cubicBezTo>
                  <a:cubicBezTo>
                    <a:pt x="69" y="14"/>
                    <a:pt x="114" y="6"/>
                    <a:pt x="141" y="10"/>
                  </a:cubicBezTo>
                  <a:cubicBezTo>
                    <a:pt x="141" y="8"/>
                    <a:pt x="141" y="6"/>
                    <a:pt x="141" y="3"/>
                  </a:cubicBezTo>
                  <a:cubicBezTo>
                    <a:pt x="112" y="0"/>
                    <a:pt x="67" y="8"/>
                    <a:pt x="37" y="29"/>
                  </a:cubicBezTo>
                  <a:close/>
                </a:path>
              </a:pathLst>
            </a:custGeom>
            <a:solidFill>
              <a:srgbClr val="20265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5" name="Google Shape;325;p45"/>
            <p:cNvSpPr/>
            <p:nvPr/>
          </p:nvSpPr>
          <p:spPr>
            <a:xfrm>
              <a:off x="2413454" y="3730625"/>
              <a:ext cx="504825" cy="277813"/>
            </a:xfrm>
            <a:custGeom>
              <a:rect b="b" l="l" r="r" t="t"/>
              <a:pathLst>
                <a:path extrusionOk="0" h="82" w="148">
                  <a:moveTo>
                    <a:pt x="41" y="35"/>
                  </a:moveTo>
                  <a:cubicBezTo>
                    <a:pt x="72" y="14"/>
                    <a:pt x="118" y="5"/>
                    <a:pt x="148" y="9"/>
                  </a:cubicBezTo>
                  <a:cubicBezTo>
                    <a:pt x="148" y="6"/>
                    <a:pt x="147" y="5"/>
                    <a:pt x="146" y="3"/>
                  </a:cubicBezTo>
                  <a:cubicBezTo>
                    <a:pt x="115" y="0"/>
                    <a:pt x="70" y="9"/>
                    <a:pt x="38" y="31"/>
                  </a:cubicBezTo>
                  <a:cubicBezTo>
                    <a:pt x="18" y="45"/>
                    <a:pt x="6" y="60"/>
                    <a:pt x="0" y="74"/>
                  </a:cubicBezTo>
                  <a:cubicBezTo>
                    <a:pt x="1" y="77"/>
                    <a:pt x="1" y="79"/>
                    <a:pt x="3" y="82"/>
                  </a:cubicBezTo>
                  <a:cubicBezTo>
                    <a:pt x="7" y="70"/>
                    <a:pt x="18" y="51"/>
                    <a:pt x="41" y="35"/>
                  </a:cubicBezTo>
                  <a:close/>
                </a:path>
              </a:pathLst>
            </a:custGeom>
            <a:solidFill>
              <a:srgbClr val="20265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6" name="Google Shape;326;p45"/>
            <p:cNvSpPr/>
            <p:nvPr/>
          </p:nvSpPr>
          <p:spPr>
            <a:xfrm>
              <a:off x="2567441" y="4049713"/>
              <a:ext cx="98425" cy="88900"/>
            </a:xfrm>
            <a:custGeom>
              <a:rect b="b" l="l" r="r" t="t"/>
              <a:pathLst>
                <a:path extrusionOk="0" h="26" w="29">
                  <a:moveTo>
                    <a:pt x="9" y="2"/>
                  </a:moveTo>
                  <a:cubicBezTo>
                    <a:pt x="1" y="6"/>
                    <a:pt x="1" y="6"/>
                    <a:pt x="1" y="6"/>
                  </a:cubicBezTo>
                  <a:cubicBezTo>
                    <a:pt x="1" y="6"/>
                    <a:pt x="0" y="14"/>
                    <a:pt x="9" y="20"/>
                  </a:cubicBezTo>
                  <a:cubicBezTo>
                    <a:pt x="19" y="26"/>
                    <a:pt x="29" y="13"/>
                    <a:pt x="28" y="8"/>
                  </a:cubicBezTo>
                  <a:cubicBezTo>
                    <a:pt x="26" y="4"/>
                    <a:pt x="15" y="0"/>
                    <a:pt x="9" y="2"/>
                  </a:cubicBezTo>
                  <a:close/>
                </a:path>
              </a:pathLst>
            </a:custGeom>
            <a:solidFill>
              <a:srgbClr val="20265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7" name="Google Shape;327;p45"/>
            <p:cNvSpPr/>
            <p:nvPr/>
          </p:nvSpPr>
          <p:spPr>
            <a:xfrm>
              <a:off x="2583316" y="4070350"/>
              <a:ext cx="41275" cy="41275"/>
            </a:xfrm>
            <a:custGeom>
              <a:rect b="b" l="l" r="r" t="t"/>
              <a:pathLst>
                <a:path extrusionOk="0" h="12" w="12">
                  <a:moveTo>
                    <a:pt x="2" y="0"/>
                  </a:moveTo>
                  <a:cubicBezTo>
                    <a:pt x="2" y="0"/>
                    <a:pt x="0" y="4"/>
                    <a:pt x="3" y="8"/>
                  </a:cubicBezTo>
                  <a:cubicBezTo>
                    <a:pt x="6" y="12"/>
                    <a:pt x="12" y="12"/>
                    <a:pt x="12" y="12"/>
                  </a:cubicBezTo>
                  <a:cubicBezTo>
                    <a:pt x="12" y="12"/>
                    <a:pt x="3" y="10"/>
                    <a:pt x="2" y="0"/>
                  </a:cubicBezTo>
                  <a:close/>
                </a:path>
              </a:pathLst>
            </a:custGeom>
            <a:solidFill>
              <a:srgbClr val="38427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328" name="Google Shape;328;p45"/>
          <p:cNvSpPr txBox="1"/>
          <p:nvPr/>
        </p:nvSpPr>
        <p:spPr>
          <a:xfrm>
            <a:off x="5813900" y="1860250"/>
            <a:ext cx="3094500" cy="1577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4900">
                <a:solidFill>
                  <a:schemeClr val="lt1"/>
                </a:solidFill>
                <a:latin typeface="Century Gothic"/>
                <a:ea typeface="Century Gothic"/>
                <a:cs typeface="Century Gothic"/>
                <a:sym typeface="Century Gothic"/>
              </a:rPr>
              <a:t>For Attending</a:t>
            </a:r>
            <a:endParaRPr sz="600"/>
          </a:p>
        </p:txBody>
      </p:sp>
      <p:sp>
        <p:nvSpPr>
          <p:cNvPr id="329" name="Google Shape;329;p45"/>
          <p:cNvSpPr/>
          <p:nvPr/>
        </p:nvSpPr>
        <p:spPr>
          <a:xfrm>
            <a:off x="5111466" y="4695514"/>
            <a:ext cx="2692967" cy="158833"/>
          </a:xfrm>
          <a:custGeom>
            <a:rect b="b" l="l" r="r" t="t"/>
            <a:pathLst>
              <a:path extrusionOk="0" h="126" w="2145">
                <a:moveTo>
                  <a:pt x="0" y="120"/>
                </a:moveTo>
                <a:cubicBezTo>
                  <a:pt x="0" y="120"/>
                  <a:pt x="27" y="45"/>
                  <a:pt x="154" y="65"/>
                </a:cubicBezTo>
                <a:cubicBezTo>
                  <a:pt x="281" y="85"/>
                  <a:pt x="337" y="71"/>
                  <a:pt x="400" y="55"/>
                </a:cubicBezTo>
                <a:cubicBezTo>
                  <a:pt x="462" y="39"/>
                  <a:pt x="489" y="38"/>
                  <a:pt x="549" y="60"/>
                </a:cubicBezTo>
                <a:cubicBezTo>
                  <a:pt x="608" y="81"/>
                  <a:pt x="629" y="126"/>
                  <a:pt x="823" y="81"/>
                </a:cubicBezTo>
                <a:cubicBezTo>
                  <a:pt x="1017" y="37"/>
                  <a:pt x="1109" y="0"/>
                  <a:pt x="1230" y="35"/>
                </a:cubicBezTo>
                <a:cubicBezTo>
                  <a:pt x="1351" y="69"/>
                  <a:pt x="1500" y="6"/>
                  <a:pt x="1649" y="65"/>
                </a:cubicBezTo>
                <a:cubicBezTo>
                  <a:pt x="1798" y="124"/>
                  <a:pt x="2028" y="21"/>
                  <a:pt x="2145" y="120"/>
                </a:cubicBezTo>
                <a:cubicBezTo>
                  <a:pt x="0" y="120"/>
                  <a:pt x="0" y="120"/>
                  <a:pt x="0" y="120"/>
                </a:cubicBezTo>
                <a:close/>
              </a:path>
            </a:pathLst>
          </a:custGeom>
          <a:solidFill>
            <a:srgbClr val="D8D8D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0" name="Google Shape;330;p45"/>
          <p:cNvSpPr txBox="1"/>
          <p:nvPr/>
        </p:nvSpPr>
        <p:spPr>
          <a:xfrm>
            <a:off x="101528" y="67897"/>
            <a:ext cx="2429700" cy="17316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1" lang="en" sz="5400">
                <a:solidFill>
                  <a:schemeClr val="lt1"/>
                </a:solidFill>
                <a:latin typeface="Century Gothic"/>
                <a:ea typeface="Century Gothic"/>
                <a:cs typeface="Century Gothic"/>
                <a:sym typeface="Century Gothic"/>
              </a:rPr>
              <a:t>THANK</a:t>
            </a:r>
            <a:endParaRPr sz="1100"/>
          </a:p>
          <a:p>
            <a:pPr indent="0" lvl="0" marL="0" marR="0" rtl="0" algn="r">
              <a:spcBef>
                <a:spcPts val="0"/>
              </a:spcBef>
              <a:spcAft>
                <a:spcPts val="0"/>
              </a:spcAft>
              <a:buNone/>
            </a:pPr>
            <a:r>
              <a:rPr b="1" lang="en" sz="5400">
                <a:solidFill>
                  <a:schemeClr val="lt1"/>
                </a:solidFill>
                <a:latin typeface="Century Gothic"/>
                <a:ea typeface="Century Gothic"/>
                <a:cs typeface="Century Gothic"/>
                <a:sym typeface="Century Gothic"/>
              </a:rPr>
              <a:t>YOU</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